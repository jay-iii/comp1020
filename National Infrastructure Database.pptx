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7" r:id="rId1"/>
  </p:sldMasterIdLst>
  <p:sldIdLst>
    <p:sldId id="256" r:id="rId2"/>
    <p:sldId id="257" r:id="rId3"/>
    <p:sldId id="258" r:id="rId4"/>
    <p:sldId id="268" r:id="rId5"/>
    <p:sldId id="260" r:id="rId6"/>
    <p:sldId id="262" r:id="rId7"/>
    <p:sldId id="264" r:id="rId8"/>
    <p:sldId id="265" r:id="rId9"/>
    <p:sldId id="259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896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374595E9-6132-43CA-ACA9-079A66501B33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7031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6059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0861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0311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9936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5496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3221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0342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622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1800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5429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9854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2856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1242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7517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71313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9893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595E9-6132-43CA-ACA9-079A66501B33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84163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  <p:sldLayoutId id="2147483929" r:id="rId12"/>
    <p:sldLayoutId id="2147483930" r:id="rId13"/>
    <p:sldLayoutId id="2147483931" r:id="rId14"/>
    <p:sldLayoutId id="2147483932" r:id="rId15"/>
    <p:sldLayoutId id="2147483933" r:id="rId16"/>
    <p:sldLayoutId id="214748393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in a hard hat holding a blueprint&#10;&#10;AI-generated content may be incorrect.">
            <a:extLst>
              <a:ext uri="{FF2B5EF4-FFF2-40B4-BE49-F238E27FC236}">
                <a16:creationId xmlns:a16="http://schemas.microsoft.com/office/drawing/2014/main" id="{A45B185E-CD5A-F338-9FBF-34F52442D4F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902AB1-CB54-2DF1-CAF2-4EA70400F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2"/>
            <a:ext cx="12192000" cy="2900518"/>
          </a:xfrm>
        </p:spPr>
        <p:txBody>
          <a:bodyPr>
            <a:noAutofit/>
          </a:bodyPr>
          <a:lstStyle/>
          <a:p>
            <a:pPr algn="ctr"/>
            <a:r>
              <a:rPr lang="en-US" sz="7200" b="1" dirty="0">
                <a:solidFill>
                  <a:srgbClr val="FFFFFF"/>
                </a:solidFill>
                <a:effectLst>
                  <a:glow rad="76200">
                    <a:schemeClr val="bg2">
                      <a:lumMod val="75000"/>
                      <a:lumOff val="25000"/>
                      <a:alpha val="28000"/>
                    </a:schemeClr>
                  </a:glow>
                </a:effectLst>
              </a:rPr>
              <a:t>National Infrastructure Database-Modernized</a:t>
            </a:r>
            <a:endParaRPr lang="en-CA" sz="7200" b="1" dirty="0">
              <a:solidFill>
                <a:srgbClr val="FFFFFF"/>
              </a:solidFill>
              <a:effectLst>
                <a:glow rad="76200">
                  <a:schemeClr val="bg2">
                    <a:lumMod val="75000"/>
                    <a:lumOff val="25000"/>
                    <a:alpha val="28000"/>
                  </a:schemeClr>
                </a:glo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2819A-FFED-84FC-4C11-1EFA34E5B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80714" y="5414554"/>
            <a:ext cx="3211286" cy="1443446"/>
          </a:xfrm>
        </p:spPr>
        <p:txBody>
          <a:bodyPr>
            <a:normAutofit fontScale="25000" lnSpcReduction="20000"/>
          </a:bodyPr>
          <a:lstStyle/>
          <a:p>
            <a:r>
              <a:rPr lang="en-US" sz="1100" dirty="0">
                <a:solidFill>
                  <a:srgbClr val="FFFFFF"/>
                </a:solidFill>
              </a:rPr>
              <a:t>By: </a:t>
            </a:r>
          </a:p>
          <a:p>
            <a:r>
              <a:rPr lang="en-US" sz="6400" dirty="0">
                <a:solidFill>
                  <a:srgbClr val="FFFFFF"/>
                </a:solidFill>
              </a:rPr>
              <a:t>Duru Elli</a:t>
            </a:r>
          </a:p>
          <a:p>
            <a:r>
              <a:rPr lang="en-US" sz="6400" dirty="0">
                <a:solidFill>
                  <a:srgbClr val="FFFFFF"/>
                </a:solidFill>
              </a:rPr>
              <a:t>Jordan Stella</a:t>
            </a:r>
          </a:p>
          <a:p>
            <a:r>
              <a:rPr lang="en-US" sz="6400" dirty="0">
                <a:solidFill>
                  <a:srgbClr val="FFFFFF"/>
                </a:solidFill>
              </a:rPr>
              <a:t>Mohammed Aishat</a:t>
            </a:r>
            <a:endParaRPr lang="en-CA" sz="6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754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061A8-4264-F5FA-945B-1750C6F12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anchor="ctr">
            <a:normAutofit/>
          </a:bodyPr>
          <a:lstStyle/>
          <a:p>
            <a:pPr algn="ctr"/>
            <a:r>
              <a:rPr lang="en-US" sz="7200" b="1" dirty="0"/>
              <a:t>The Problem</a:t>
            </a:r>
            <a:endParaRPr lang="en-CA" sz="7200" b="1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184A6F1-F5C4-FB3C-BB3B-801E0CEA3B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2249487"/>
            <a:ext cx="9905999" cy="3541714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en-US" sz="4000" dirty="0"/>
              <a:t>Tracking Infrastructure Projects</a:t>
            </a:r>
          </a:p>
          <a:p>
            <a:pPr lvl="0"/>
            <a:r>
              <a:rPr lang="en-US" altLang="en-US" sz="4000" dirty="0"/>
              <a:t>Uncorrelated Data</a:t>
            </a:r>
          </a:p>
          <a:p>
            <a:pPr lvl="0"/>
            <a:r>
              <a:rPr lang="en-US" altLang="en-US" sz="4000" dirty="0"/>
              <a:t>Budgeting Delays</a:t>
            </a:r>
          </a:p>
          <a:p>
            <a:pPr lvl="0"/>
            <a:endParaRPr lang="en-US" altLang="en-US" dirty="0"/>
          </a:p>
        </p:txBody>
      </p:sp>
      <p:pic>
        <p:nvPicPr>
          <p:cNvPr id="5" name="Graphic 4" descr="Database with solid fill">
            <a:extLst>
              <a:ext uri="{FF2B5EF4-FFF2-40B4-BE49-F238E27FC236}">
                <a16:creationId xmlns:a16="http://schemas.microsoft.com/office/drawing/2014/main" id="{0A393064-334E-251B-C000-F8DBDF984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0610" y="1358106"/>
            <a:ext cx="4737650" cy="473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753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149AA-052D-0BAC-9D55-299382034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19125"/>
            <a:ext cx="12192000" cy="1477963"/>
          </a:xfrm>
        </p:spPr>
        <p:txBody>
          <a:bodyPr>
            <a:noAutofit/>
          </a:bodyPr>
          <a:lstStyle/>
          <a:p>
            <a:pPr algn="ctr"/>
            <a:r>
              <a:rPr lang="en-US" sz="7200" b="1" dirty="0"/>
              <a:t>Centralization Matters</a:t>
            </a:r>
            <a:endParaRPr lang="en-CA" sz="7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70C36-DCB8-4DCE-75FC-20C3BCBE7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3541714"/>
          </a:xfrm>
        </p:spPr>
        <p:txBody>
          <a:bodyPr>
            <a:noAutofit/>
          </a:bodyPr>
          <a:lstStyle/>
          <a:p>
            <a:r>
              <a:rPr lang="en-US" sz="4000" dirty="0"/>
              <a:t>Single Source of Truth </a:t>
            </a:r>
          </a:p>
          <a:p>
            <a:r>
              <a:rPr lang="en-US" sz="4000" dirty="0"/>
              <a:t>Faster Decision Making</a:t>
            </a:r>
          </a:p>
          <a:p>
            <a:r>
              <a:rPr lang="en-US" sz="4000" dirty="0"/>
              <a:t>Reduced Errors</a:t>
            </a:r>
          </a:p>
          <a:p>
            <a:r>
              <a:rPr lang="en-US" sz="4000" dirty="0"/>
              <a:t>Efficient Oversight</a:t>
            </a:r>
            <a:endParaRPr lang="en-CA" sz="4000" dirty="0"/>
          </a:p>
        </p:txBody>
      </p:sp>
      <p:pic>
        <p:nvPicPr>
          <p:cNvPr id="8" name="Graphic 7" descr="Database with solid fill">
            <a:extLst>
              <a:ext uri="{FF2B5EF4-FFF2-40B4-BE49-F238E27FC236}">
                <a16:creationId xmlns:a16="http://schemas.microsoft.com/office/drawing/2014/main" id="{8E161D8C-9408-9E54-6061-B04586C87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0610" y="1358106"/>
            <a:ext cx="4737650" cy="473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292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Database with solid fill">
            <a:extLst>
              <a:ext uri="{FF2B5EF4-FFF2-40B4-BE49-F238E27FC236}">
                <a16:creationId xmlns:a16="http://schemas.microsoft.com/office/drawing/2014/main" id="{9B043F88-D502-22FC-4EA4-A1DCC6CF7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0610" y="1358106"/>
            <a:ext cx="4737650" cy="4737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D777F1-B227-5B95-5946-AB0F58B17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/>
              <a:t> project Goals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7A4969D-BE84-C13A-D628-50B5F1EB20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2249487"/>
            <a:ext cx="9905999" cy="3541714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altLang="en-US" sz="4000" dirty="0"/>
              <a:t>Rational Databases</a:t>
            </a:r>
          </a:p>
          <a:p>
            <a:pPr lvl="0"/>
            <a:r>
              <a:rPr lang="en-US" altLang="en-US" sz="4000" dirty="0"/>
              <a:t>XML &amp; JSON Compatible</a:t>
            </a:r>
          </a:p>
          <a:p>
            <a:pPr lvl="0"/>
            <a:r>
              <a:rPr lang="en-US" altLang="en-US" sz="4000" dirty="0"/>
              <a:t>Integrated Website</a:t>
            </a:r>
          </a:p>
          <a:p>
            <a:pPr lvl="0"/>
            <a:r>
              <a:rPr lang="en-US" altLang="en-US" sz="4000" dirty="0"/>
              <a:t>Maximize Transparency</a:t>
            </a:r>
          </a:p>
        </p:txBody>
      </p:sp>
    </p:spTree>
    <p:extLst>
      <p:ext uri="{BB962C8B-B14F-4D97-AF65-F5344CB8AC3E}">
        <p14:creationId xmlns:p14="http://schemas.microsoft.com/office/powerpoint/2010/main" val="4185513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diagram of a project&#10;&#10;AI-generated content may be incorrect.">
            <a:extLst>
              <a:ext uri="{FF2B5EF4-FFF2-40B4-BE49-F238E27FC236}">
                <a16:creationId xmlns:a16="http://schemas.microsoft.com/office/drawing/2014/main" id="{36751B80-686A-6833-63A3-4201D6004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AD54418-E588-586A-7E4E-789F47FB6A90}"/>
              </a:ext>
            </a:extLst>
          </p:cNvPr>
          <p:cNvSpPr txBox="1">
            <a:spLocks/>
          </p:cNvSpPr>
          <p:nvPr/>
        </p:nvSpPr>
        <p:spPr>
          <a:xfrm>
            <a:off x="0" y="918267"/>
            <a:ext cx="12192000" cy="8152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 b="1" dirty="0">
                <a:effectLst>
                  <a:glow rad="381000">
                    <a:srgbClr val="00B0F0">
                      <a:alpha val="28000"/>
                    </a:srgbClr>
                  </a:glow>
                </a:effectLst>
              </a:rPr>
              <a:t>Overview</a:t>
            </a:r>
            <a:endParaRPr lang="en-CA" sz="7200" b="1" dirty="0">
              <a:effectLst>
                <a:glow rad="381000">
                  <a:srgbClr val="00B0F0">
                    <a:alpha val="28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3729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 descr="A screenshot of a computer program">
            <a:extLst>
              <a:ext uri="{FF2B5EF4-FFF2-40B4-BE49-F238E27FC236}">
                <a16:creationId xmlns:a16="http://schemas.microsoft.com/office/drawing/2014/main" id="{79B9A238-02A7-8452-D522-105BD1BB1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1" r="38849" b="-1"/>
          <a:stretch>
            <a:fillRect/>
          </a:stretch>
        </p:blipFill>
        <p:spPr>
          <a:xfrm>
            <a:off x="2" y="10"/>
            <a:ext cx="7230532" cy="685799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B0DDFF0-E7F1-C3C9-CCD4-49D871310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0534" y="0"/>
            <a:ext cx="4961466" cy="68579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4000" dirty="0"/>
          </a:p>
          <a:p>
            <a:pPr marL="0" indent="0" algn="ctr">
              <a:buNone/>
            </a:pPr>
            <a:r>
              <a:rPr lang="en-US" sz="4000" b="1" dirty="0"/>
              <a:t>SQL Demo:</a:t>
            </a:r>
            <a:br>
              <a:rPr lang="en-US" sz="4000" b="1" dirty="0"/>
            </a:br>
            <a:br>
              <a:rPr lang="en-US" sz="4000" dirty="0"/>
            </a:br>
            <a:r>
              <a:rPr lang="en-US" sz="4000" dirty="0"/>
              <a:t>Key Queries</a:t>
            </a:r>
          </a:p>
        </p:txBody>
      </p:sp>
    </p:spTree>
    <p:extLst>
      <p:ext uri="{BB962C8B-B14F-4D97-AF65-F5344CB8AC3E}">
        <p14:creationId xmlns:p14="http://schemas.microsoft.com/office/powerpoint/2010/main" val="3742421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B95DE311-7933-0BB2-25E3-D999F060D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000"/>
          <a:stretch>
            <a:fillRect/>
          </a:stretch>
        </p:blipFill>
        <p:spPr>
          <a:xfrm>
            <a:off x="-5598" y="1"/>
            <a:ext cx="7239836" cy="3427413"/>
          </a:xfrm>
          <a:custGeom>
            <a:avLst/>
            <a:gdLst/>
            <a:ahLst/>
            <a:cxnLst/>
            <a:rect l="l" t="t" r="r" b="b"/>
            <a:pathLst>
              <a:path w="6101597" h="3427413">
                <a:moveTo>
                  <a:pt x="0" y="0"/>
                </a:moveTo>
                <a:lnTo>
                  <a:pt x="6101597" y="0"/>
                </a:lnTo>
                <a:lnTo>
                  <a:pt x="6101597" y="3427413"/>
                </a:lnTo>
                <a:lnTo>
                  <a:pt x="0" y="3427413"/>
                </a:lnTo>
                <a:close/>
              </a:path>
            </a:pathLst>
          </a:custGeom>
        </p:spPr>
      </p:pic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6A4518D-2361-F15B-3908-128351FA11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524" b="2"/>
          <a:stretch>
            <a:fillRect/>
          </a:stretch>
        </p:blipFill>
        <p:spPr>
          <a:xfrm>
            <a:off x="-5598" y="3427414"/>
            <a:ext cx="7239836" cy="3430587"/>
          </a:xfrm>
          <a:custGeom>
            <a:avLst/>
            <a:gdLst/>
            <a:ahLst/>
            <a:cxnLst/>
            <a:rect l="l" t="t" r="r" b="b"/>
            <a:pathLst>
              <a:path w="6101597" h="3430587">
                <a:moveTo>
                  <a:pt x="0" y="0"/>
                </a:moveTo>
                <a:lnTo>
                  <a:pt x="6101597" y="0"/>
                </a:lnTo>
                <a:lnTo>
                  <a:pt x="6101597" y="3430587"/>
                </a:lnTo>
                <a:lnTo>
                  <a:pt x="0" y="3430587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C8F9C84-9E00-D3F7-66EE-CE64D254AE35}"/>
              </a:ext>
            </a:extLst>
          </p:cNvPr>
          <p:cNvSpPr txBox="1">
            <a:spLocks/>
          </p:cNvSpPr>
          <p:nvPr/>
        </p:nvSpPr>
        <p:spPr>
          <a:xfrm>
            <a:off x="7616277" y="0"/>
            <a:ext cx="4575723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CA" sz="4000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103BF0F-E9DF-9BED-DA95-4C828097A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4238" y="0"/>
            <a:ext cx="4957762" cy="685482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endParaRPr lang="en-US" sz="4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/>
              <a:t>Project Data:</a:t>
            </a:r>
            <a:br>
              <a:rPr lang="en-US" sz="4000" b="1" dirty="0"/>
            </a:br>
            <a:br>
              <a:rPr lang="en-US" sz="4000" dirty="0"/>
            </a:br>
            <a:r>
              <a:rPr lang="en-US" sz="4000" dirty="0"/>
              <a:t>In Progress Projects</a:t>
            </a:r>
            <a:br>
              <a:rPr lang="en-US" sz="4000" dirty="0"/>
            </a:br>
            <a:r>
              <a:rPr lang="en-US" sz="4000" dirty="0"/>
              <a:t>(XML)</a:t>
            </a:r>
            <a:br>
              <a:rPr lang="en-US" sz="4000" dirty="0"/>
            </a:br>
            <a:endParaRPr lang="en-US" sz="4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000" dirty="0"/>
              <a:t>Planned Projects</a:t>
            </a:r>
            <a:br>
              <a:rPr lang="en-US" sz="4000" dirty="0"/>
            </a:br>
            <a:r>
              <a:rPr lang="en-US" sz="4000" dirty="0"/>
              <a:t>(JSON)</a:t>
            </a:r>
          </a:p>
        </p:txBody>
      </p:sp>
    </p:spTree>
    <p:extLst>
      <p:ext uri="{BB962C8B-B14F-4D97-AF65-F5344CB8AC3E}">
        <p14:creationId xmlns:p14="http://schemas.microsoft.com/office/powerpoint/2010/main" val="178210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486410C-FCFC-B76E-F0A0-85672612E827}"/>
              </a:ext>
            </a:extLst>
          </p:cNvPr>
          <p:cNvSpPr txBox="1">
            <a:spLocks/>
          </p:cNvSpPr>
          <p:nvPr/>
        </p:nvSpPr>
        <p:spPr>
          <a:xfrm>
            <a:off x="7616277" y="0"/>
            <a:ext cx="4575723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CA" sz="4000" dirty="0"/>
          </a:p>
        </p:txBody>
      </p:sp>
      <p:pic>
        <p:nvPicPr>
          <p:cNvPr id="9" name="Picture 8" descr="A screenshot of a web page&#10;&#10;AI-generated content may be incorrect.">
            <a:extLst>
              <a:ext uri="{FF2B5EF4-FFF2-40B4-BE49-F238E27FC236}">
                <a16:creationId xmlns:a16="http://schemas.microsoft.com/office/drawing/2014/main" id="{91A3CAAA-6BD7-9E3D-4E41-32CDD95FE1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7219950" cy="6858000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67CC8F3-6791-AE8C-E272-A0FCB8E3F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9951" y="0"/>
            <a:ext cx="4972048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4000" dirty="0"/>
          </a:p>
          <a:p>
            <a:pPr marL="0" indent="0" algn="ctr">
              <a:buNone/>
            </a:pPr>
            <a:r>
              <a:rPr lang="en-US" sz="4000" b="1" dirty="0"/>
              <a:t>Proof of Concept:</a:t>
            </a:r>
          </a:p>
          <a:p>
            <a:pPr marL="0" indent="0" algn="ctr">
              <a:buNone/>
            </a:pPr>
            <a:endParaRPr lang="en-US" sz="4000" dirty="0"/>
          </a:p>
          <a:p>
            <a:pPr marL="0" indent="0" algn="ctr">
              <a:buNone/>
            </a:pPr>
            <a:r>
              <a:rPr lang="en-US" sz="4000" dirty="0"/>
              <a:t> Webpage</a:t>
            </a:r>
            <a:endParaRPr lang="en-CA" sz="4000" dirty="0"/>
          </a:p>
        </p:txBody>
      </p:sp>
    </p:spTree>
    <p:extLst>
      <p:ext uri="{BB962C8B-B14F-4D97-AF65-F5344CB8AC3E}">
        <p14:creationId xmlns:p14="http://schemas.microsoft.com/office/powerpoint/2010/main" val="721457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8A870-DD96-31B7-4467-158761ECC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3699" y="619125"/>
            <a:ext cx="5455125" cy="1477963"/>
          </a:xfrm>
        </p:spPr>
        <p:txBody>
          <a:bodyPr anchor="ctr">
            <a:normAutofit/>
          </a:bodyPr>
          <a:lstStyle/>
          <a:p>
            <a:r>
              <a:rPr lang="en-US" sz="4000" dirty="0"/>
              <a:t> </a:t>
            </a:r>
            <a:r>
              <a:rPr lang="en-US" sz="4000" b="1" dirty="0"/>
              <a:t>Proposed Solution</a:t>
            </a:r>
            <a:endParaRPr lang="en-CA" sz="4000" b="1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BDDB54D-A544-A5D9-4813-AF0C8C1A6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9174" y="2249488"/>
            <a:ext cx="6102825" cy="3541712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Centralized System</a:t>
            </a:r>
          </a:p>
          <a:p>
            <a:pPr marL="0" indent="0" algn="ctr">
              <a:buNone/>
            </a:pPr>
            <a:r>
              <a:rPr lang="en-US" sz="4000" dirty="0"/>
              <a:t>Clearly Organized Data</a:t>
            </a:r>
          </a:p>
          <a:p>
            <a:pPr marL="0" indent="0" algn="ctr">
              <a:buNone/>
            </a:pPr>
            <a:r>
              <a:rPr lang="en-US" sz="4000" dirty="0"/>
              <a:t>Visually Comprehensible</a:t>
            </a:r>
          </a:p>
        </p:txBody>
      </p:sp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4303D828-EAB5-2CC6-EEF5-EBCB1A1E8E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47" r="28952" b="-2"/>
          <a:stretch>
            <a:fillRect/>
          </a:stretch>
        </p:blipFill>
        <p:spPr>
          <a:xfrm>
            <a:off x="0" y="0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578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 descr="Database with solid fill">
            <a:extLst>
              <a:ext uri="{FF2B5EF4-FFF2-40B4-BE49-F238E27FC236}">
                <a16:creationId xmlns:a16="http://schemas.microsoft.com/office/drawing/2014/main" id="{73BA37D3-5BBC-9F09-F939-91C6A3D6F2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9660" y="1501832"/>
            <a:ext cx="4737650" cy="473765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CF1E450-DD73-5FA6-882F-24D854941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0403" y="618518"/>
            <a:ext cx="6101596" cy="1478570"/>
          </a:xfrm>
        </p:spPr>
        <p:txBody>
          <a:bodyPr>
            <a:normAutofit/>
          </a:bodyPr>
          <a:lstStyle/>
          <a:p>
            <a:pPr algn="ctr"/>
            <a:r>
              <a:rPr lang="en-CA" sz="7200" b="1" dirty="0"/>
              <a:t>QUESTIONS</a:t>
            </a:r>
            <a:endParaRPr lang="en-US" sz="7200" b="1" dirty="0"/>
          </a:p>
        </p:txBody>
      </p:sp>
      <p:pic>
        <p:nvPicPr>
          <p:cNvPr id="8" name="Picture 7" descr="Yellow question mark">
            <a:extLst>
              <a:ext uri="{FF2B5EF4-FFF2-40B4-BE49-F238E27FC236}">
                <a16:creationId xmlns:a16="http://schemas.microsoft.com/office/drawing/2014/main" id="{362EC507-95A5-0B5A-2FAB-6F3EDBD0A6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871"/>
          <a:stretch>
            <a:fillRect/>
          </a:stretch>
        </p:blipFill>
        <p:spPr>
          <a:xfrm>
            <a:off x="-5596" y="10"/>
            <a:ext cx="610159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0633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565</TotalTime>
  <Words>90</Words>
  <Application>Microsoft Office PowerPoint</Application>
  <PresentationFormat>Widescreen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Circuit</vt:lpstr>
      <vt:lpstr>National Infrastructure Database-Modernized</vt:lpstr>
      <vt:lpstr>The Problem</vt:lpstr>
      <vt:lpstr>Centralization Matters</vt:lpstr>
      <vt:lpstr> project Goals</vt:lpstr>
      <vt:lpstr>PowerPoint Presentation</vt:lpstr>
      <vt:lpstr>PowerPoint Presentation</vt:lpstr>
      <vt:lpstr>PowerPoint Presentation</vt:lpstr>
      <vt:lpstr>PowerPoint Presentation</vt:lpstr>
      <vt:lpstr> Proposed Solution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Duru Elli</dc:creator>
  <cp:lastModifiedBy>Jordan Stella [Student]</cp:lastModifiedBy>
  <cp:revision>9</cp:revision>
  <dcterms:created xsi:type="dcterms:W3CDTF">2025-12-04T18:18:08Z</dcterms:created>
  <dcterms:modified xsi:type="dcterms:W3CDTF">2025-12-10T16:26:32Z</dcterms:modified>
</cp:coreProperties>
</file>