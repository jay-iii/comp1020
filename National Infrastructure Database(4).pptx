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7" r:id="rId1"/>
  </p:sldMasterIdLst>
  <p:sldIdLst>
    <p:sldId id="256" r:id="rId2"/>
    <p:sldId id="257" r:id="rId3"/>
    <p:sldId id="258" r:id="rId4"/>
    <p:sldId id="268" r:id="rId5"/>
    <p:sldId id="260" r:id="rId6"/>
    <p:sldId id="262" r:id="rId7"/>
    <p:sldId id="264" r:id="rId8"/>
    <p:sldId id="265" r:id="rId9"/>
    <p:sldId id="259" r:id="rId10"/>
    <p:sldId id="267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-160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374595E9-6132-43CA-ACA9-079A66501B33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9081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48844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686007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23883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801139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10306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74574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14670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71104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00959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631864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809715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6493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46277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23745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089661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595E9-6132-43CA-ACA9-079A66501B33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84010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4595E9-6132-43CA-ACA9-079A66501B33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408DE5-C0B9-41C7-B4A3-7880A7ACE3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600652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8" r:id="rId1"/>
    <p:sldLayoutId id="2147483829" r:id="rId2"/>
    <p:sldLayoutId id="2147483830" r:id="rId3"/>
    <p:sldLayoutId id="2147483831" r:id="rId4"/>
    <p:sldLayoutId id="2147483832" r:id="rId5"/>
    <p:sldLayoutId id="2147483833" r:id="rId6"/>
    <p:sldLayoutId id="2147483834" r:id="rId7"/>
    <p:sldLayoutId id="2147483835" r:id="rId8"/>
    <p:sldLayoutId id="2147483836" r:id="rId9"/>
    <p:sldLayoutId id="2147483837" r:id="rId10"/>
    <p:sldLayoutId id="2147483838" r:id="rId11"/>
    <p:sldLayoutId id="2147483839" r:id="rId12"/>
    <p:sldLayoutId id="2147483840" r:id="rId13"/>
    <p:sldLayoutId id="2147483841" r:id="rId14"/>
    <p:sldLayoutId id="2147483842" r:id="rId15"/>
    <p:sldLayoutId id="2147483843" r:id="rId16"/>
    <p:sldLayoutId id="2147483844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erson in a hard hat holding a blueprint&#10;&#10;AI-generated content may be incorrect.">
            <a:extLst>
              <a:ext uri="{FF2B5EF4-FFF2-40B4-BE49-F238E27FC236}">
                <a16:creationId xmlns:a16="http://schemas.microsoft.com/office/drawing/2014/main" id="{A45B185E-CD5A-F338-9FBF-34F52442D4F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7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902AB1-CB54-2DF1-CAF2-4EA70400F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2"/>
            <a:ext cx="12192000" cy="2900518"/>
          </a:xfrm>
        </p:spPr>
        <p:txBody>
          <a:bodyPr>
            <a:noAutofit/>
          </a:bodyPr>
          <a:lstStyle/>
          <a:p>
            <a:pPr algn="ctr"/>
            <a:r>
              <a:rPr lang="en-US" sz="7200" dirty="0">
                <a:solidFill>
                  <a:srgbClr val="FFFFFF"/>
                </a:solidFill>
              </a:rPr>
              <a:t>National Infrastructure Database-</a:t>
            </a:r>
            <a:r>
              <a:rPr lang="en-US" sz="7200" b="1" dirty="0">
                <a:solidFill>
                  <a:srgbClr val="FFFFFF"/>
                </a:solidFill>
              </a:rPr>
              <a:t>Modernized</a:t>
            </a:r>
            <a:endParaRPr lang="en-CA" sz="72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32819A-FFED-84FC-4C11-1EFA34E5B7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0200" y="4142471"/>
            <a:ext cx="9144000" cy="1098395"/>
          </a:xfrm>
        </p:spPr>
        <p:txBody>
          <a:bodyPr>
            <a:normAutofit fontScale="25000" lnSpcReduction="20000"/>
          </a:bodyPr>
          <a:lstStyle/>
          <a:p>
            <a:r>
              <a:rPr lang="en-US" sz="1100" dirty="0">
                <a:solidFill>
                  <a:srgbClr val="FFFFFF"/>
                </a:solidFill>
              </a:rPr>
              <a:t>By: </a:t>
            </a:r>
          </a:p>
          <a:p>
            <a:r>
              <a:rPr lang="en-US" sz="8600" dirty="0">
                <a:solidFill>
                  <a:srgbClr val="FFFFFF"/>
                </a:solidFill>
                <a:latin typeface="Amasis MT Pro Black" panose="020F0502020204030204" pitchFamily="18" charset="0"/>
              </a:rPr>
              <a:t>Duru Elli</a:t>
            </a:r>
          </a:p>
          <a:p>
            <a:r>
              <a:rPr lang="en-US" sz="8600" dirty="0">
                <a:solidFill>
                  <a:srgbClr val="FFFFFF"/>
                </a:solidFill>
                <a:latin typeface="Amasis MT Pro Black" panose="020F0502020204030204" pitchFamily="18" charset="0"/>
              </a:rPr>
              <a:t>Jordan Stella</a:t>
            </a:r>
          </a:p>
          <a:p>
            <a:r>
              <a:rPr lang="en-US" sz="8600" dirty="0">
                <a:solidFill>
                  <a:srgbClr val="FFFFFF"/>
                </a:solidFill>
                <a:latin typeface="Amasis MT Pro Black" panose="020F0502020204030204" pitchFamily="18" charset="0"/>
              </a:rPr>
              <a:t>Mohammed Aishat </a:t>
            </a:r>
            <a:endParaRPr lang="en-CA" sz="8600" dirty="0">
              <a:solidFill>
                <a:srgbClr val="FFFFFF"/>
              </a:solidFill>
              <a:latin typeface="Amasis MT Pro Black" panose="020F0502020204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7548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061A8-4264-F5FA-945B-1750C6F12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0267" y="414866"/>
            <a:ext cx="10302344" cy="1453621"/>
          </a:xfrm>
        </p:spPr>
        <p:txBody>
          <a:bodyPr anchor="ctr">
            <a:normAutofit fontScale="90000"/>
          </a:bodyPr>
          <a:lstStyle/>
          <a:p>
            <a:r>
              <a:rPr lang="en-US" sz="6600" dirty="0"/>
              <a:t>The Problem</a:t>
            </a:r>
            <a:br>
              <a:rPr lang="en-US" sz="6600" dirty="0"/>
            </a:br>
            <a:endParaRPr lang="en-CA" sz="6600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0184A6F1-F5C4-FB3C-BB3B-801E0CEA3BB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1412" y="1464733"/>
            <a:ext cx="9905999" cy="4902200"/>
          </a:xfr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altLang="en-US" sz="3600" b="1" dirty="0">
                <a:latin typeface="+mj-lt"/>
              </a:rPr>
              <a:t>Tracking infrastructure projects </a:t>
            </a:r>
          </a:p>
          <a:p>
            <a:pPr lvl="0"/>
            <a:r>
              <a:rPr lang="en-US" altLang="en-US" sz="3600" b="1" dirty="0">
                <a:latin typeface="+mj-lt"/>
              </a:rPr>
              <a:t>Uncorrelated Data </a:t>
            </a:r>
          </a:p>
          <a:p>
            <a:pPr lvl="0"/>
            <a:r>
              <a:rPr lang="en-US" altLang="en-US" sz="3600" b="1" dirty="0">
                <a:latin typeface="+mj-lt"/>
              </a:rPr>
              <a:t>Budgeting delays </a:t>
            </a:r>
          </a:p>
          <a:p>
            <a:pPr marL="0" lvl="0" indent="0">
              <a:buNone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0347534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149AA-052D-0BAC-9D55-299382034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6956" y="429376"/>
            <a:ext cx="8911687" cy="1644957"/>
          </a:xfrm>
        </p:spPr>
        <p:txBody>
          <a:bodyPr>
            <a:noAutofit/>
          </a:bodyPr>
          <a:lstStyle/>
          <a:p>
            <a:pPr algn="ctr"/>
            <a:r>
              <a:rPr lang="en-US" sz="5900" dirty="0"/>
              <a:t>Why Centralization Matters</a:t>
            </a:r>
            <a:endParaRPr lang="en-CA" sz="59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70C36-DCB8-4DCE-75FC-20C3BCBE7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2132" y="2175933"/>
            <a:ext cx="10202333" cy="3069696"/>
          </a:xfrm>
        </p:spPr>
        <p:txBody>
          <a:bodyPr>
            <a:noAutofit/>
          </a:bodyPr>
          <a:lstStyle/>
          <a:p>
            <a:r>
              <a:rPr lang="en-US" sz="3600" b="1" dirty="0">
                <a:latin typeface="+mj-lt"/>
              </a:rPr>
              <a:t>Single Source of Truth</a:t>
            </a:r>
            <a:r>
              <a:rPr lang="en-US" sz="3600" dirty="0">
                <a:latin typeface="+mj-lt"/>
              </a:rPr>
              <a:t> </a:t>
            </a:r>
          </a:p>
          <a:p>
            <a:r>
              <a:rPr lang="en-US" sz="3600" b="1" dirty="0">
                <a:latin typeface="+mj-lt"/>
              </a:rPr>
              <a:t>Faster Decision-Making</a:t>
            </a:r>
            <a:endParaRPr lang="en-US" sz="3600" dirty="0">
              <a:latin typeface="+mj-lt"/>
            </a:endParaRPr>
          </a:p>
          <a:p>
            <a:r>
              <a:rPr lang="en-US" sz="3600" b="1" dirty="0">
                <a:latin typeface="+mj-lt"/>
              </a:rPr>
              <a:t>Reduced Errors</a:t>
            </a:r>
            <a:endParaRPr lang="en-US" sz="3600" dirty="0">
              <a:latin typeface="+mj-lt"/>
            </a:endParaRPr>
          </a:p>
          <a:p>
            <a:r>
              <a:rPr lang="en-US" sz="3600" b="1" dirty="0">
                <a:latin typeface="+mj-lt"/>
              </a:rPr>
              <a:t>Efficient Oversight</a:t>
            </a:r>
            <a:endParaRPr lang="en-CA" sz="36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06292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777F1-B227-5B95-5946-AB0F58B17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sz="6000" dirty="0"/>
              <a:t> </a:t>
            </a:r>
            <a:r>
              <a:rPr lang="en-US" sz="6600" dirty="0"/>
              <a:t>project Goals</a:t>
            </a:r>
            <a:br>
              <a:rPr lang="en-US" sz="6600" dirty="0"/>
            </a:br>
            <a:endParaRPr lang="en-US" sz="6600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E7A4969D-BE84-C13A-D628-50B5F1EB207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1412" y="2006600"/>
            <a:ext cx="9905999" cy="3784601"/>
          </a:xfr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altLang="en-US" sz="3600" b="1" dirty="0"/>
              <a:t> Rational databases</a:t>
            </a:r>
          </a:p>
          <a:p>
            <a:pPr lvl="0"/>
            <a:r>
              <a:rPr lang="en-US" altLang="en-US" sz="3600" b="1" dirty="0"/>
              <a:t> XML &amp; JSON compatible</a:t>
            </a:r>
          </a:p>
          <a:p>
            <a:pPr lvl="0"/>
            <a:r>
              <a:rPr lang="en-US" altLang="en-US" sz="3600" b="1" dirty="0"/>
              <a:t> Integrated website</a:t>
            </a:r>
          </a:p>
          <a:p>
            <a:pPr lvl="0"/>
            <a:r>
              <a:rPr lang="en-US" altLang="en-US" sz="3600" b="1" dirty="0"/>
              <a:t> Maximize transparency</a:t>
            </a:r>
          </a:p>
        </p:txBody>
      </p:sp>
      <p:pic>
        <p:nvPicPr>
          <p:cNvPr id="7" name="Graphic 6" descr="Database with solid fill">
            <a:extLst>
              <a:ext uri="{FF2B5EF4-FFF2-40B4-BE49-F238E27FC236}">
                <a16:creationId xmlns:a16="http://schemas.microsoft.com/office/drawing/2014/main" id="{9B043F88-D502-22FC-4EA4-A1DCC6CF7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80610" y="1071282"/>
            <a:ext cx="4737650" cy="473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513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1FE06-23ED-3CD4-C656-67E560CAF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3133" y="313267"/>
            <a:ext cx="3679918" cy="1783821"/>
          </a:xfrm>
        </p:spPr>
        <p:txBody>
          <a:bodyPr anchor="b">
            <a:normAutofit/>
          </a:bodyPr>
          <a:lstStyle/>
          <a:p>
            <a:pPr algn="ctr"/>
            <a:r>
              <a:rPr lang="en-US" sz="5400" dirty="0"/>
              <a:t>ERD Overview</a:t>
            </a:r>
            <a:endParaRPr lang="en-CA" sz="5400" dirty="0"/>
          </a:p>
        </p:txBody>
      </p:sp>
      <p:sp>
        <p:nvSpPr>
          <p:cNvPr id="16" name="Round Diagonal Corner Rectangle 11">
            <a:extLst>
              <a:ext uri="{FF2B5EF4-FFF2-40B4-BE49-F238E27FC236}">
                <a16:creationId xmlns:a16="http://schemas.microsoft.com/office/drawing/2014/main" id="{E4B7B3E3-827A-48BE-AD67-A57C45AA6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949" y="808057"/>
            <a:ext cx="6752461" cy="5234394"/>
          </a:xfrm>
          <a:prstGeom prst="round2DiagRect">
            <a:avLst>
              <a:gd name="adj1" fmla="val 7418"/>
              <a:gd name="adj2" fmla="val 0"/>
            </a:avLst>
          </a:prstGeom>
          <a:solidFill>
            <a:srgbClr val="FFFFFF"/>
          </a:solidFill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diagram of a company&#10;&#10;AI-generated content may be incorrect.">
            <a:extLst>
              <a:ext uri="{FF2B5EF4-FFF2-40B4-BE49-F238E27FC236}">
                <a16:creationId xmlns:a16="http://schemas.microsoft.com/office/drawing/2014/main" id="{82D5D674-0C76-2D70-AE1A-916F0C63F9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949" y="815549"/>
            <a:ext cx="6752461" cy="5226902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2209FCEA-0B16-FBC5-BDBE-9AEF9798068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036041" y="2249487"/>
            <a:ext cx="3281004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3600" i="0" u="none" strike="noStrike" cap="none" normalizeH="0" baseline="0" dirty="0">
                <a:ln>
                  <a:noFill/>
                </a:ln>
                <a:effectLst/>
                <a:latin typeface="+mj-lt"/>
              </a:rPr>
              <a:t>Structured database</a:t>
            </a:r>
          </a:p>
        </p:txBody>
      </p:sp>
    </p:spTree>
    <p:extLst>
      <p:ext uri="{BB962C8B-B14F-4D97-AF65-F5344CB8AC3E}">
        <p14:creationId xmlns:p14="http://schemas.microsoft.com/office/powerpoint/2010/main" val="3737297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 descr="A screenshot of a computer program">
            <a:extLst>
              <a:ext uri="{FF2B5EF4-FFF2-40B4-BE49-F238E27FC236}">
                <a16:creationId xmlns:a16="http://schemas.microsoft.com/office/drawing/2014/main" id="{79B9A238-02A7-8452-D522-105BD1BB19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-1" r="38849" b="-1"/>
          <a:stretch>
            <a:fillRect/>
          </a:stretch>
        </p:blipFill>
        <p:spPr>
          <a:xfrm>
            <a:off x="2" y="10"/>
            <a:ext cx="7230532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A2FBA4-845D-D32D-AB89-6088BAC51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6277" y="2479044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 dirty="0"/>
              <a:t>SQL Demo: Key Queries</a:t>
            </a:r>
            <a:endParaRPr lang="en-CA" sz="4000" dirty="0"/>
          </a:p>
        </p:txBody>
      </p:sp>
    </p:spTree>
    <p:extLst>
      <p:ext uri="{BB962C8B-B14F-4D97-AF65-F5344CB8AC3E}">
        <p14:creationId xmlns:p14="http://schemas.microsoft.com/office/powerpoint/2010/main" val="3742421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693BD2D-90DE-41D0-B07B-6670FECAB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3" name="Rectangle 12">
              <a:extLst>
                <a:ext uri="{FF2B5EF4-FFF2-40B4-BE49-F238E27FC236}">
                  <a16:creationId xmlns:a16="http://schemas.microsoft.com/office/drawing/2014/main" id="{420D8642-D968-4F94-843D-8C13771EA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Picture 2">
              <a:extLst>
                <a:ext uri="{FF2B5EF4-FFF2-40B4-BE49-F238E27FC236}">
                  <a16:creationId xmlns:a16="http://schemas.microsoft.com/office/drawing/2014/main" id="{E4EF1635-745F-4114-8470-B93CB63039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 xmlns:p14="http://schemas.microsoft.com/office/powerpoint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AADE310-421F-4A07-86A0-0E0B3C3E2D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40302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7" name="Rectangle 5">
              <a:extLst>
                <a:ext uri="{FF2B5EF4-FFF2-40B4-BE49-F238E27FC236}">
                  <a16:creationId xmlns:a16="http://schemas.microsoft.com/office/drawing/2014/main" id="{92EFF714-AB04-436A-852B-F3B39BFDA4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8E6C29E0-88AD-4D53-AAE1-D6E33BF336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7">
              <a:extLst>
                <a:ext uri="{FF2B5EF4-FFF2-40B4-BE49-F238E27FC236}">
                  <a16:creationId xmlns:a16="http://schemas.microsoft.com/office/drawing/2014/main" id="{CC9A5E51-EE8F-4843-9436-D8B6CE131C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Rectangle 8">
              <a:extLst>
                <a:ext uri="{FF2B5EF4-FFF2-40B4-BE49-F238E27FC236}">
                  <a16:creationId xmlns:a16="http://schemas.microsoft.com/office/drawing/2014/main" id="{0A0AF990-0077-4E68-8DC6-F945BE4C6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26B1F5C8-8321-4D71-B699-C2E87D9CA1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0">
              <a:extLst>
                <a:ext uri="{FF2B5EF4-FFF2-40B4-BE49-F238E27FC236}">
                  <a16:creationId xmlns:a16="http://schemas.microsoft.com/office/drawing/2014/main" id="{4B5C8775-0CF8-43A3-9CAB-1B97F6B2B7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1">
              <a:extLst>
                <a:ext uri="{FF2B5EF4-FFF2-40B4-BE49-F238E27FC236}">
                  <a16:creationId xmlns:a16="http://schemas.microsoft.com/office/drawing/2014/main" id="{5B6C08C1-6FC3-49FF-8D4D-99E13D3BFC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2">
              <a:extLst>
                <a:ext uri="{FF2B5EF4-FFF2-40B4-BE49-F238E27FC236}">
                  <a16:creationId xmlns:a16="http://schemas.microsoft.com/office/drawing/2014/main" id="{95CA3761-3A11-406A-A326-ECF26E0721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3">
              <a:extLst>
                <a:ext uri="{FF2B5EF4-FFF2-40B4-BE49-F238E27FC236}">
                  <a16:creationId xmlns:a16="http://schemas.microsoft.com/office/drawing/2014/main" id="{0AABA579-772E-4579-AC6C-3F6D216590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4">
              <a:extLst>
                <a:ext uri="{FF2B5EF4-FFF2-40B4-BE49-F238E27FC236}">
                  <a16:creationId xmlns:a16="http://schemas.microsoft.com/office/drawing/2014/main" id="{FE1A6CBE-4C42-4B7A-9453-4BC869D50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5">
              <a:extLst>
                <a:ext uri="{FF2B5EF4-FFF2-40B4-BE49-F238E27FC236}">
                  <a16:creationId xmlns:a16="http://schemas.microsoft.com/office/drawing/2014/main" id="{825ABAD8-3CA7-4EA3-ACAE-0EA73C71A1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6">
              <a:extLst>
                <a:ext uri="{FF2B5EF4-FFF2-40B4-BE49-F238E27FC236}">
                  <a16:creationId xmlns:a16="http://schemas.microsoft.com/office/drawing/2014/main" id="{7DC73EC9-C427-4ED6-8EBE-BC00E9CF2C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7">
              <a:extLst>
                <a:ext uri="{FF2B5EF4-FFF2-40B4-BE49-F238E27FC236}">
                  <a16:creationId xmlns:a16="http://schemas.microsoft.com/office/drawing/2014/main" id="{428B51A5-ACFB-44C2-9964-16F1DDA5ED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8">
              <a:extLst>
                <a:ext uri="{FF2B5EF4-FFF2-40B4-BE49-F238E27FC236}">
                  <a16:creationId xmlns:a16="http://schemas.microsoft.com/office/drawing/2014/main" id="{C4704545-01A1-468C-95DD-63B90C39AD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9">
              <a:extLst>
                <a:ext uri="{FF2B5EF4-FFF2-40B4-BE49-F238E27FC236}">
                  <a16:creationId xmlns:a16="http://schemas.microsoft.com/office/drawing/2014/main" id="{5F0473CE-D2DB-4ECD-B21A-4CA35148FA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0">
              <a:extLst>
                <a:ext uri="{FF2B5EF4-FFF2-40B4-BE49-F238E27FC236}">
                  <a16:creationId xmlns:a16="http://schemas.microsoft.com/office/drawing/2014/main" id="{08C45B16-DC09-476F-9B4B-692F3D4643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1">
              <a:extLst>
                <a:ext uri="{FF2B5EF4-FFF2-40B4-BE49-F238E27FC236}">
                  <a16:creationId xmlns:a16="http://schemas.microsoft.com/office/drawing/2014/main" id="{D0C0F01F-521A-4AF5-9070-1BBABCE93A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2">
              <a:extLst>
                <a:ext uri="{FF2B5EF4-FFF2-40B4-BE49-F238E27FC236}">
                  <a16:creationId xmlns:a16="http://schemas.microsoft.com/office/drawing/2014/main" id="{DB1723A5-EF2B-4DF7-BC63-F52B5E29FD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3">
              <a:extLst>
                <a:ext uri="{FF2B5EF4-FFF2-40B4-BE49-F238E27FC236}">
                  <a16:creationId xmlns:a16="http://schemas.microsoft.com/office/drawing/2014/main" id="{5631D183-4732-4C19-A23C-B39628A065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4">
              <a:extLst>
                <a:ext uri="{FF2B5EF4-FFF2-40B4-BE49-F238E27FC236}">
                  <a16:creationId xmlns:a16="http://schemas.microsoft.com/office/drawing/2014/main" id="{179A8BC5-AAFA-4E6F-B675-3E0CC7E461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5">
              <a:extLst>
                <a:ext uri="{FF2B5EF4-FFF2-40B4-BE49-F238E27FC236}">
                  <a16:creationId xmlns:a16="http://schemas.microsoft.com/office/drawing/2014/main" id="{1DC0EC12-B52F-47E4-B851-CAFB05C577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6">
              <a:extLst>
                <a:ext uri="{FF2B5EF4-FFF2-40B4-BE49-F238E27FC236}">
                  <a16:creationId xmlns:a16="http://schemas.microsoft.com/office/drawing/2014/main" id="{E5DEA7B1-C866-4B5F-987C-4BD13F0963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7">
              <a:extLst>
                <a:ext uri="{FF2B5EF4-FFF2-40B4-BE49-F238E27FC236}">
                  <a16:creationId xmlns:a16="http://schemas.microsoft.com/office/drawing/2014/main" id="{C79B501A-0947-4E42-802D-3FC073C302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8">
              <a:extLst>
                <a:ext uri="{FF2B5EF4-FFF2-40B4-BE49-F238E27FC236}">
                  <a16:creationId xmlns:a16="http://schemas.microsoft.com/office/drawing/2014/main" id="{068696D0-F634-4F07-8C25-98443B1683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29">
              <a:extLst>
                <a:ext uri="{FF2B5EF4-FFF2-40B4-BE49-F238E27FC236}">
                  <a16:creationId xmlns:a16="http://schemas.microsoft.com/office/drawing/2014/main" id="{A0097225-8B0D-4635-9EAB-53A208A5E6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0">
              <a:extLst>
                <a:ext uri="{FF2B5EF4-FFF2-40B4-BE49-F238E27FC236}">
                  <a16:creationId xmlns:a16="http://schemas.microsoft.com/office/drawing/2014/main" id="{115303E8-FF11-4E31-AADF-59BD54396B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1">
              <a:extLst>
                <a:ext uri="{FF2B5EF4-FFF2-40B4-BE49-F238E27FC236}">
                  <a16:creationId xmlns:a16="http://schemas.microsoft.com/office/drawing/2014/main" id="{BEBB0441-EBFD-493A-89C9-8B4BE56300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2">
              <a:extLst>
                <a:ext uri="{FF2B5EF4-FFF2-40B4-BE49-F238E27FC236}">
                  <a16:creationId xmlns:a16="http://schemas.microsoft.com/office/drawing/2014/main" id="{877F3517-B32B-4798-9296-2B3A6D3D99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Rectangle 33">
              <a:extLst>
                <a:ext uri="{FF2B5EF4-FFF2-40B4-BE49-F238E27FC236}">
                  <a16:creationId xmlns:a16="http://schemas.microsoft.com/office/drawing/2014/main" id="{9CCEBBA5-0C29-432F-AC88-73B6AC5628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4">
              <a:extLst>
                <a:ext uri="{FF2B5EF4-FFF2-40B4-BE49-F238E27FC236}">
                  <a16:creationId xmlns:a16="http://schemas.microsoft.com/office/drawing/2014/main" id="{95ED506A-0449-4956-BEAE-905FE03E5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5">
              <a:extLst>
                <a:ext uri="{FF2B5EF4-FFF2-40B4-BE49-F238E27FC236}">
                  <a16:creationId xmlns:a16="http://schemas.microsoft.com/office/drawing/2014/main" id="{D21D942D-689E-46D7-B06C-0F01177DB3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6">
              <a:extLst>
                <a:ext uri="{FF2B5EF4-FFF2-40B4-BE49-F238E27FC236}">
                  <a16:creationId xmlns:a16="http://schemas.microsoft.com/office/drawing/2014/main" id="{F0364329-0D4F-4712-82D5-116BFDB45A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7">
              <a:extLst>
                <a:ext uri="{FF2B5EF4-FFF2-40B4-BE49-F238E27FC236}">
                  <a16:creationId xmlns:a16="http://schemas.microsoft.com/office/drawing/2014/main" id="{C32A3069-F39D-4530-9666-2BF2E82E7A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38">
              <a:extLst>
                <a:ext uri="{FF2B5EF4-FFF2-40B4-BE49-F238E27FC236}">
                  <a16:creationId xmlns:a16="http://schemas.microsoft.com/office/drawing/2014/main" id="{AFD9032F-96EE-4AC3-B4C4-9334C00D96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39">
              <a:extLst>
                <a:ext uri="{FF2B5EF4-FFF2-40B4-BE49-F238E27FC236}">
                  <a16:creationId xmlns:a16="http://schemas.microsoft.com/office/drawing/2014/main" id="{54B7C097-76FE-4D48-A2FB-28AE3EE45F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40">
              <a:extLst>
                <a:ext uri="{FF2B5EF4-FFF2-40B4-BE49-F238E27FC236}">
                  <a16:creationId xmlns:a16="http://schemas.microsoft.com/office/drawing/2014/main" id="{5C3EA8FD-5A91-4EF7-AC73-FB7D115A0B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1">
              <a:extLst>
                <a:ext uri="{FF2B5EF4-FFF2-40B4-BE49-F238E27FC236}">
                  <a16:creationId xmlns:a16="http://schemas.microsoft.com/office/drawing/2014/main" id="{51599BE3-9721-4E55-9AD8-F49E15DA8A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2">
              <a:extLst>
                <a:ext uri="{FF2B5EF4-FFF2-40B4-BE49-F238E27FC236}">
                  <a16:creationId xmlns:a16="http://schemas.microsoft.com/office/drawing/2014/main" id="{B34CF688-7031-482E-9897-AB4B7BF5EB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3">
              <a:extLst>
                <a:ext uri="{FF2B5EF4-FFF2-40B4-BE49-F238E27FC236}">
                  <a16:creationId xmlns:a16="http://schemas.microsoft.com/office/drawing/2014/main" id="{E9011520-9FE8-4C7F-B271-A06DB35AC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4">
              <a:extLst>
                <a:ext uri="{FF2B5EF4-FFF2-40B4-BE49-F238E27FC236}">
                  <a16:creationId xmlns:a16="http://schemas.microsoft.com/office/drawing/2014/main" id="{357A27C5-E3A1-4D83-82F6-6FAD21C51A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Rectangle 45">
              <a:extLst>
                <a:ext uri="{FF2B5EF4-FFF2-40B4-BE49-F238E27FC236}">
                  <a16:creationId xmlns:a16="http://schemas.microsoft.com/office/drawing/2014/main" id="{71F4D3E9-B91C-45B3-B8A4-2C284D4EB0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46">
              <a:extLst>
                <a:ext uri="{FF2B5EF4-FFF2-40B4-BE49-F238E27FC236}">
                  <a16:creationId xmlns:a16="http://schemas.microsoft.com/office/drawing/2014/main" id="{DED7151D-D6EF-4F03-87D0-7F963123BE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47">
              <a:extLst>
                <a:ext uri="{FF2B5EF4-FFF2-40B4-BE49-F238E27FC236}">
                  <a16:creationId xmlns:a16="http://schemas.microsoft.com/office/drawing/2014/main" id="{6C5C83AF-D468-4B0A-B449-C360CE26D5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48">
              <a:extLst>
                <a:ext uri="{FF2B5EF4-FFF2-40B4-BE49-F238E27FC236}">
                  <a16:creationId xmlns:a16="http://schemas.microsoft.com/office/drawing/2014/main" id="{4A5B4139-C66D-47A2-8B30-11415F15E8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49">
              <a:extLst>
                <a:ext uri="{FF2B5EF4-FFF2-40B4-BE49-F238E27FC236}">
                  <a16:creationId xmlns:a16="http://schemas.microsoft.com/office/drawing/2014/main" id="{48F3A424-087B-4825-8313-519981EEC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0">
              <a:extLst>
                <a:ext uri="{FF2B5EF4-FFF2-40B4-BE49-F238E27FC236}">
                  <a16:creationId xmlns:a16="http://schemas.microsoft.com/office/drawing/2014/main" id="{3E8E1C6A-5AD4-4EBD-9FA1-132108BC57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1">
              <a:extLst>
                <a:ext uri="{FF2B5EF4-FFF2-40B4-BE49-F238E27FC236}">
                  <a16:creationId xmlns:a16="http://schemas.microsoft.com/office/drawing/2014/main" id="{ACEDD2AF-0DB9-4C5C-850B-DFEBCB10C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2">
              <a:extLst>
                <a:ext uri="{FF2B5EF4-FFF2-40B4-BE49-F238E27FC236}">
                  <a16:creationId xmlns:a16="http://schemas.microsoft.com/office/drawing/2014/main" id="{0A114CDE-F1F7-437C-9C09-E4374D6397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3">
              <a:extLst>
                <a:ext uri="{FF2B5EF4-FFF2-40B4-BE49-F238E27FC236}">
                  <a16:creationId xmlns:a16="http://schemas.microsoft.com/office/drawing/2014/main" id="{DC6A2F35-ED69-484A-9425-087C0943C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54">
              <a:extLst>
                <a:ext uri="{FF2B5EF4-FFF2-40B4-BE49-F238E27FC236}">
                  <a16:creationId xmlns:a16="http://schemas.microsoft.com/office/drawing/2014/main" id="{5C3FAF61-A529-497A-B8EB-54BB72E88E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55">
              <a:extLst>
                <a:ext uri="{FF2B5EF4-FFF2-40B4-BE49-F238E27FC236}">
                  <a16:creationId xmlns:a16="http://schemas.microsoft.com/office/drawing/2014/main" id="{395A6577-B4C3-42FF-98D3-CA3AB48838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56">
              <a:extLst>
                <a:ext uri="{FF2B5EF4-FFF2-40B4-BE49-F238E27FC236}">
                  <a16:creationId xmlns:a16="http://schemas.microsoft.com/office/drawing/2014/main" id="{B4A6EF5E-0CBE-4A8C-A303-0AD6535401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57">
              <a:extLst>
                <a:ext uri="{FF2B5EF4-FFF2-40B4-BE49-F238E27FC236}">
                  <a16:creationId xmlns:a16="http://schemas.microsoft.com/office/drawing/2014/main" id="{F6717E37-402B-4A63-88A6-E2F8C9728E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58">
              <a:extLst>
                <a:ext uri="{FF2B5EF4-FFF2-40B4-BE49-F238E27FC236}">
                  <a16:creationId xmlns:a16="http://schemas.microsoft.com/office/drawing/2014/main" id="{158EE7FB-51AD-4A88-905A-45FF2BE78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36D0268-DAE4-BC69-71F0-1690AB50E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91135" y="478818"/>
            <a:ext cx="4413736" cy="1478570"/>
          </a:xfrm>
        </p:spPr>
        <p:txBody>
          <a:bodyPr>
            <a:normAutofit/>
          </a:bodyPr>
          <a:lstStyle/>
          <a:p>
            <a:r>
              <a:rPr lang="en-US" sz="4000" dirty="0"/>
              <a:t>Project Data – XML &amp; JSON</a:t>
            </a:r>
            <a:endParaRPr lang="en-CA" sz="4000" dirty="0"/>
          </a:p>
        </p:txBody>
      </p:sp>
      <p:pic>
        <p:nvPicPr>
          <p:cNvPr id="7" name="Picture 6" descr="A computer screen shot of text&#10;&#10;AI-generated content may be incorrect.">
            <a:extLst>
              <a:ext uri="{FF2B5EF4-FFF2-40B4-BE49-F238E27FC236}">
                <a16:creationId xmlns:a16="http://schemas.microsoft.com/office/drawing/2014/main" id="{B95DE311-7933-0BB2-25E3-D999F060DC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000"/>
          <a:stretch>
            <a:fillRect/>
          </a:stretch>
        </p:blipFill>
        <p:spPr>
          <a:xfrm>
            <a:off x="-5597" y="1"/>
            <a:ext cx="6101597" cy="3427413"/>
          </a:xfrm>
          <a:custGeom>
            <a:avLst/>
            <a:gdLst/>
            <a:ahLst/>
            <a:cxnLst/>
            <a:rect l="l" t="t" r="r" b="b"/>
            <a:pathLst>
              <a:path w="6101597" h="3427413">
                <a:moveTo>
                  <a:pt x="0" y="0"/>
                </a:moveTo>
                <a:lnTo>
                  <a:pt x="6101597" y="0"/>
                </a:lnTo>
                <a:lnTo>
                  <a:pt x="6101597" y="3427413"/>
                </a:lnTo>
                <a:lnTo>
                  <a:pt x="0" y="3427413"/>
                </a:lnTo>
                <a:close/>
              </a:path>
            </a:pathLst>
          </a:custGeom>
        </p:spPr>
      </p:pic>
      <p:pic>
        <p:nvPicPr>
          <p:cNvPr id="5" name="Picture 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F6A4518D-2361-F15B-3908-128351FA115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524" b="2"/>
          <a:stretch>
            <a:fillRect/>
          </a:stretch>
        </p:blipFill>
        <p:spPr>
          <a:xfrm>
            <a:off x="-5597" y="3427414"/>
            <a:ext cx="6101597" cy="3430587"/>
          </a:xfrm>
          <a:custGeom>
            <a:avLst/>
            <a:gdLst/>
            <a:ahLst/>
            <a:cxnLst/>
            <a:rect l="l" t="t" r="r" b="b"/>
            <a:pathLst>
              <a:path w="6101597" h="3430587">
                <a:moveTo>
                  <a:pt x="0" y="0"/>
                </a:moveTo>
                <a:lnTo>
                  <a:pt x="6101597" y="0"/>
                </a:lnTo>
                <a:lnTo>
                  <a:pt x="6101597" y="3430587"/>
                </a:lnTo>
                <a:lnTo>
                  <a:pt x="0" y="3430587"/>
                </a:lnTo>
                <a:close/>
              </a:path>
            </a:pathLst>
          </a:cu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3FDF4268-DA21-0554-4833-A35DD8B0010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83390" y="2844800"/>
            <a:ext cx="5422676" cy="377507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3200" b="1" dirty="0">
                <a:latin typeface="+mj-lt"/>
              </a:rPr>
              <a:t>In-Progress Projects (XML)</a:t>
            </a:r>
            <a:br>
              <a:rPr lang="en-US" sz="3200" b="1" dirty="0">
                <a:latin typeface="+mj-lt"/>
              </a:rPr>
            </a:br>
            <a:endParaRPr lang="en-US" sz="3200" dirty="0">
              <a:latin typeface="+mj-lt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3200" b="1" dirty="0">
                <a:latin typeface="+mj-lt"/>
              </a:rPr>
              <a:t>Planned Projects (JSON)</a:t>
            </a:r>
            <a:endParaRPr lang="en-US" sz="3200" dirty="0">
              <a:latin typeface="+mj-lt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3645D35-E797-4482-A1FD-29D21AEACA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3354" y="-464"/>
            <a:ext cx="2646" cy="6858465"/>
          </a:xfrm>
          <a:prstGeom prst="line">
            <a:avLst/>
          </a:prstGeom>
          <a:solidFill>
            <a:schemeClr val="tx2">
              <a:alpha val="60000"/>
            </a:schemeClr>
          </a:solidFill>
          <a:ln w="19050">
            <a:solidFill>
              <a:schemeClr val="tx2">
                <a:alpha val="60000"/>
              </a:schemeClr>
            </a:solidFill>
          </a:ln>
          <a:effectLst>
            <a:outerShdw blurRad="50800" dist="38100" dir="2700000" algn="tl" rotWithShape="0">
              <a:srgbClr val="000000">
                <a:alpha val="58000"/>
              </a:srgbClr>
            </a:outerShdw>
          </a:effectLst>
        </p:spPr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C7BA197-BE1E-4B2B-B2BC-7A9A095AE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5597" y="3427414"/>
            <a:ext cx="6101597" cy="0"/>
          </a:xfrm>
          <a:prstGeom prst="line">
            <a:avLst/>
          </a:prstGeom>
          <a:solidFill>
            <a:schemeClr val="tx2">
              <a:alpha val="60000"/>
            </a:schemeClr>
          </a:solidFill>
          <a:ln w="19050">
            <a:solidFill>
              <a:schemeClr val="tx2">
                <a:alpha val="60000"/>
              </a:schemeClr>
            </a:solidFill>
          </a:ln>
          <a:effectLst>
            <a:outerShdw blurRad="50800" dist="38100" dir="2700000" algn="tl" rotWithShape="0">
              <a:srgbClr val="000000">
                <a:alpha val="58000"/>
              </a:srgb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1782102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oup 82">
            <a:extLst>
              <a:ext uri="{FF2B5EF4-FFF2-40B4-BE49-F238E27FC236}">
                <a16:creationId xmlns:a16="http://schemas.microsoft.com/office/drawing/2014/main" id="{A7D6E840-9DD4-473E-ABC8-0FC9062FD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84" name="Rectangle 83">
              <a:extLst>
                <a:ext uri="{FF2B5EF4-FFF2-40B4-BE49-F238E27FC236}">
                  <a16:creationId xmlns:a16="http://schemas.microsoft.com/office/drawing/2014/main" id="{02950B47-A4A4-40A4-BA35-D2459B5AE0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5" name="Picture 2">
              <a:extLst>
                <a:ext uri="{FF2B5EF4-FFF2-40B4-BE49-F238E27FC236}">
                  <a16:creationId xmlns:a16="http://schemas.microsoft.com/office/drawing/2014/main" id="{3DFEB33D-BD06-44EF-A9E8-DAB1E3F1C9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 xmlns:p14="http://schemas.microsoft.com/office/powerpoint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1F9514F9-0FC6-47CE-9741-227EF8E360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1133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88" name="Rectangle 5">
              <a:extLst>
                <a:ext uri="{FF2B5EF4-FFF2-40B4-BE49-F238E27FC236}">
                  <a16:creationId xmlns:a16="http://schemas.microsoft.com/office/drawing/2014/main" id="{DEA9E922-4B56-4398-8F49-18BB2FF195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Freeform 6">
              <a:extLst>
                <a:ext uri="{FF2B5EF4-FFF2-40B4-BE49-F238E27FC236}">
                  <a16:creationId xmlns:a16="http://schemas.microsoft.com/office/drawing/2014/main" id="{7B7E94F6-7C72-4170-B7C8-B18165607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7">
              <a:extLst>
                <a:ext uri="{FF2B5EF4-FFF2-40B4-BE49-F238E27FC236}">
                  <a16:creationId xmlns:a16="http://schemas.microsoft.com/office/drawing/2014/main" id="{1D7E1780-5D15-4A89-A802-0BC222EB00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Rectangle 8">
              <a:extLst>
                <a:ext uri="{FF2B5EF4-FFF2-40B4-BE49-F238E27FC236}">
                  <a16:creationId xmlns:a16="http://schemas.microsoft.com/office/drawing/2014/main" id="{DFF82D39-403D-4749-B519-F20431BEBD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reeform 9">
              <a:extLst>
                <a:ext uri="{FF2B5EF4-FFF2-40B4-BE49-F238E27FC236}">
                  <a16:creationId xmlns:a16="http://schemas.microsoft.com/office/drawing/2014/main" id="{3B4AD3D7-29AD-4887-9422-E6FB71E41C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10">
              <a:extLst>
                <a:ext uri="{FF2B5EF4-FFF2-40B4-BE49-F238E27FC236}">
                  <a16:creationId xmlns:a16="http://schemas.microsoft.com/office/drawing/2014/main" id="{7C219CF0-C7E9-460C-B243-95F00D0430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11">
              <a:extLst>
                <a:ext uri="{FF2B5EF4-FFF2-40B4-BE49-F238E27FC236}">
                  <a16:creationId xmlns:a16="http://schemas.microsoft.com/office/drawing/2014/main" id="{F2B36BC7-A8D7-4170-A4C2-5D5FB5703C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12">
              <a:extLst>
                <a:ext uri="{FF2B5EF4-FFF2-40B4-BE49-F238E27FC236}">
                  <a16:creationId xmlns:a16="http://schemas.microsoft.com/office/drawing/2014/main" id="{693BE217-57A9-410A-8C6E-DD49C9542F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13">
              <a:extLst>
                <a:ext uri="{FF2B5EF4-FFF2-40B4-BE49-F238E27FC236}">
                  <a16:creationId xmlns:a16="http://schemas.microsoft.com/office/drawing/2014/main" id="{E137D9FE-3450-4F53-AB48-B83574DEB7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14">
              <a:extLst>
                <a:ext uri="{FF2B5EF4-FFF2-40B4-BE49-F238E27FC236}">
                  <a16:creationId xmlns:a16="http://schemas.microsoft.com/office/drawing/2014/main" id="{2CBA01D9-742E-437F-B4A4-F21067DB3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15">
              <a:extLst>
                <a:ext uri="{FF2B5EF4-FFF2-40B4-BE49-F238E27FC236}">
                  <a16:creationId xmlns:a16="http://schemas.microsoft.com/office/drawing/2014/main" id="{CF7E3F29-AF56-4664-899B-EAAB5BEB18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16">
              <a:extLst>
                <a:ext uri="{FF2B5EF4-FFF2-40B4-BE49-F238E27FC236}">
                  <a16:creationId xmlns:a16="http://schemas.microsoft.com/office/drawing/2014/main" id="{134A0AFD-4F49-418F-89C2-2BF954837F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17">
              <a:extLst>
                <a:ext uri="{FF2B5EF4-FFF2-40B4-BE49-F238E27FC236}">
                  <a16:creationId xmlns:a16="http://schemas.microsoft.com/office/drawing/2014/main" id="{491FBEA5-6E19-4D74-AF8F-7801D642FD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8">
              <a:extLst>
                <a:ext uri="{FF2B5EF4-FFF2-40B4-BE49-F238E27FC236}">
                  <a16:creationId xmlns:a16="http://schemas.microsoft.com/office/drawing/2014/main" id="{F6FE013A-FBF0-4582-8BF5-C66A87656B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9">
              <a:extLst>
                <a:ext uri="{FF2B5EF4-FFF2-40B4-BE49-F238E27FC236}">
                  <a16:creationId xmlns:a16="http://schemas.microsoft.com/office/drawing/2014/main" id="{2A8BBFC9-C135-43D6-B658-BEAFBCB687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20">
              <a:extLst>
                <a:ext uri="{FF2B5EF4-FFF2-40B4-BE49-F238E27FC236}">
                  <a16:creationId xmlns:a16="http://schemas.microsoft.com/office/drawing/2014/main" id="{0A91FF15-5B35-4788-9504-75DAF1624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 21">
              <a:extLst>
                <a:ext uri="{FF2B5EF4-FFF2-40B4-BE49-F238E27FC236}">
                  <a16:creationId xmlns:a16="http://schemas.microsoft.com/office/drawing/2014/main" id="{AF45E1F0-943D-45E4-B027-8E5DD5294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22">
              <a:extLst>
                <a:ext uri="{FF2B5EF4-FFF2-40B4-BE49-F238E27FC236}">
                  <a16:creationId xmlns:a16="http://schemas.microsoft.com/office/drawing/2014/main" id="{1B4E3D75-576B-4EAB-8767-A2692E89E0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23">
              <a:extLst>
                <a:ext uri="{FF2B5EF4-FFF2-40B4-BE49-F238E27FC236}">
                  <a16:creationId xmlns:a16="http://schemas.microsoft.com/office/drawing/2014/main" id="{B77D6359-FA3A-41C5-B675-EA271B4461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24">
              <a:extLst>
                <a:ext uri="{FF2B5EF4-FFF2-40B4-BE49-F238E27FC236}">
                  <a16:creationId xmlns:a16="http://schemas.microsoft.com/office/drawing/2014/main" id="{CAF12B18-E453-4F78-AA7A-C916EF28C1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25">
              <a:extLst>
                <a:ext uri="{FF2B5EF4-FFF2-40B4-BE49-F238E27FC236}">
                  <a16:creationId xmlns:a16="http://schemas.microsoft.com/office/drawing/2014/main" id="{2725FE37-E40E-466C-AB50-E43BA6A8AF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 26">
              <a:extLst>
                <a:ext uri="{FF2B5EF4-FFF2-40B4-BE49-F238E27FC236}">
                  <a16:creationId xmlns:a16="http://schemas.microsoft.com/office/drawing/2014/main" id="{E5933B83-B4CE-4221-8A92-78505DDC57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 27">
              <a:extLst>
                <a:ext uri="{FF2B5EF4-FFF2-40B4-BE49-F238E27FC236}">
                  <a16:creationId xmlns:a16="http://schemas.microsoft.com/office/drawing/2014/main" id="{7F1913FF-9BDF-492A-B105-671924AFF4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28">
              <a:extLst>
                <a:ext uri="{FF2B5EF4-FFF2-40B4-BE49-F238E27FC236}">
                  <a16:creationId xmlns:a16="http://schemas.microsoft.com/office/drawing/2014/main" id="{1D8A5F7C-24DE-4B2E-8B11-122C12CDB5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29">
              <a:extLst>
                <a:ext uri="{FF2B5EF4-FFF2-40B4-BE49-F238E27FC236}">
                  <a16:creationId xmlns:a16="http://schemas.microsoft.com/office/drawing/2014/main" id="{43C17D4F-4386-40CF-B9D8-A764322BA0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Freeform 30">
              <a:extLst>
                <a:ext uri="{FF2B5EF4-FFF2-40B4-BE49-F238E27FC236}">
                  <a16:creationId xmlns:a16="http://schemas.microsoft.com/office/drawing/2014/main" id="{46E23045-B4B9-4F64-93B3-06FD53532C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Freeform 31">
              <a:extLst>
                <a:ext uri="{FF2B5EF4-FFF2-40B4-BE49-F238E27FC236}">
                  <a16:creationId xmlns:a16="http://schemas.microsoft.com/office/drawing/2014/main" id="{70B9CF12-49FA-4704-82F6-923EA779A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Freeform 32">
              <a:extLst>
                <a:ext uri="{FF2B5EF4-FFF2-40B4-BE49-F238E27FC236}">
                  <a16:creationId xmlns:a16="http://schemas.microsoft.com/office/drawing/2014/main" id="{1F7A28B8-D9CE-4A32-8044-FC6A9D3347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Rectangle 33">
              <a:extLst>
                <a:ext uri="{FF2B5EF4-FFF2-40B4-BE49-F238E27FC236}">
                  <a16:creationId xmlns:a16="http://schemas.microsoft.com/office/drawing/2014/main" id="{67FEC850-B79F-4E1E-934C-6AEE781265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Freeform 34">
              <a:extLst>
                <a:ext uri="{FF2B5EF4-FFF2-40B4-BE49-F238E27FC236}">
                  <a16:creationId xmlns:a16="http://schemas.microsoft.com/office/drawing/2014/main" id="{0CFEFBE7-0E21-4207-897E-4D528A8F56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35">
              <a:extLst>
                <a:ext uri="{FF2B5EF4-FFF2-40B4-BE49-F238E27FC236}">
                  <a16:creationId xmlns:a16="http://schemas.microsoft.com/office/drawing/2014/main" id="{1AEAF58F-D575-41BD-A835-BB010E877B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36">
              <a:extLst>
                <a:ext uri="{FF2B5EF4-FFF2-40B4-BE49-F238E27FC236}">
                  <a16:creationId xmlns:a16="http://schemas.microsoft.com/office/drawing/2014/main" id="{E27AA05B-2BE2-4010-94CB-F460AE198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37">
              <a:extLst>
                <a:ext uri="{FF2B5EF4-FFF2-40B4-BE49-F238E27FC236}">
                  <a16:creationId xmlns:a16="http://schemas.microsoft.com/office/drawing/2014/main" id="{70D33247-6EF5-41BC-B07F-053CB910ED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38">
              <a:extLst>
                <a:ext uri="{FF2B5EF4-FFF2-40B4-BE49-F238E27FC236}">
                  <a16:creationId xmlns:a16="http://schemas.microsoft.com/office/drawing/2014/main" id="{5CDEB4E4-0063-4713-B2C6-36FBC09ECC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39">
              <a:extLst>
                <a:ext uri="{FF2B5EF4-FFF2-40B4-BE49-F238E27FC236}">
                  <a16:creationId xmlns:a16="http://schemas.microsoft.com/office/drawing/2014/main" id="{F3B12534-789B-48AC-9A55-424738970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40">
              <a:extLst>
                <a:ext uri="{FF2B5EF4-FFF2-40B4-BE49-F238E27FC236}">
                  <a16:creationId xmlns:a16="http://schemas.microsoft.com/office/drawing/2014/main" id="{78A290B1-8C9B-4E8B-B1B2-C722EE14C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41">
              <a:extLst>
                <a:ext uri="{FF2B5EF4-FFF2-40B4-BE49-F238E27FC236}">
                  <a16:creationId xmlns:a16="http://schemas.microsoft.com/office/drawing/2014/main" id="{06DDBC85-105E-462C-865B-153ED0CC65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42">
              <a:extLst>
                <a:ext uri="{FF2B5EF4-FFF2-40B4-BE49-F238E27FC236}">
                  <a16:creationId xmlns:a16="http://schemas.microsoft.com/office/drawing/2014/main" id="{78BB07D4-4655-424B-AB60-04F4B3809B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43">
              <a:extLst>
                <a:ext uri="{FF2B5EF4-FFF2-40B4-BE49-F238E27FC236}">
                  <a16:creationId xmlns:a16="http://schemas.microsoft.com/office/drawing/2014/main" id="{544A865C-ED01-4680-9EF0-80FBD92900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44">
              <a:extLst>
                <a:ext uri="{FF2B5EF4-FFF2-40B4-BE49-F238E27FC236}">
                  <a16:creationId xmlns:a16="http://schemas.microsoft.com/office/drawing/2014/main" id="{D9A8E789-DB73-4EA0-9D0F-A080CC6B7D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Rectangle 45">
              <a:extLst>
                <a:ext uri="{FF2B5EF4-FFF2-40B4-BE49-F238E27FC236}">
                  <a16:creationId xmlns:a16="http://schemas.microsoft.com/office/drawing/2014/main" id="{68D3F12B-BCAA-49B7-BA81-C7AF1CC0E4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46">
              <a:extLst>
                <a:ext uri="{FF2B5EF4-FFF2-40B4-BE49-F238E27FC236}">
                  <a16:creationId xmlns:a16="http://schemas.microsoft.com/office/drawing/2014/main" id="{A5165251-F749-432F-ABA8-F606E59340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Freeform 47">
              <a:extLst>
                <a:ext uri="{FF2B5EF4-FFF2-40B4-BE49-F238E27FC236}">
                  <a16:creationId xmlns:a16="http://schemas.microsoft.com/office/drawing/2014/main" id="{99451206-BB2D-4D57-9B5A-DA9543D1E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48">
              <a:extLst>
                <a:ext uri="{FF2B5EF4-FFF2-40B4-BE49-F238E27FC236}">
                  <a16:creationId xmlns:a16="http://schemas.microsoft.com/office/drawing/2014/main" id="{F1388985-19D4-40A0-A1D3-029B76DB54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49">
              <a:extLst>
                <a:ext uri="{FF2B5EF4-FFF2-40B4-BE49-F238E27FC236}">
                  <a16:creationId xmlns:a16="http://schemas.microsoft.com/office/drawing/2014/main" id="{4262B374-8CC2-44EB-97BB-1E0AEB23AE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50">
              <a:extLst>
                <a:ext uri="{FF2B5EF4-FFF2-40B4-BE49-F238E27FC236}">
                  <a16:creationId xmlns:a16="http://schemas.microsoft.com/office/drawing/2014/main" id="{7C06B794-15FA-4731-B9F0-8C20E392C3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51">
              <a:extLst>
                <a:ext uri="{FF2B5EF4-FFF2-40B4-BE49-F238E27FC236}">
                  <a16:creationId xmlns:a16="http://schemas.microsoft.com/office/drawing/2014/main" id="{9E033CE7-9D67-4BC6-BDBB-156CA29063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52">
              <a:extLst>
                <a:ext uri="{FF2B5EF4-FFF2-40B4-BE49-F238E27FC236}">
                  <a16:creationId xmlns:a16="http://schemas.microsoft.com/office/drawing/2014/main" id="{BDF8F2E8-AABE-4D38-BB58-DE250459D5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53">
              <a:extLst>
                <a:ext uri="{FF2B5EF4-FFF2-40B4-BE49-F238E27FC236}">
                  <a16:creationId xmlns:a16="http://schemas.microsoft.com/office/drawing/2014/main" id="{E10765A4-B591-4CD7-B4E8-64DC644A6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54">
              <a:extLst>
                <a:ext uri="{FF2B5EF4-FFF2-40B4-BE49-F238E27FC236}">
                  <a16:creationId xmlns:a16="http://schemas.microsoft.com/office/drawing/2014/main" id="{8BF76C5A-5FA8-45A7-A243-77D3776135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55">
              <a:extLst>
                <a:ext uri="{FF2B5EF4-FFF2-40B4-BE49-F238E27FC236}">
                  <a16:creationId xmlns:a16="http://schemas.microsoft.com/office/drawing/2014/main" id="{039E6322-3F90-4FE5-83C6-5EA6C592E7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56">
              <a:extLst>
                <a:ext uri="{FF2B5EF4-FFF2-40B4-BE49-F238E27FC236}">
                  <a16:creationId xmlns:a16="http://schemas.microsoft.com/office/drawing/2014/main" id="{E69A9E94-9988-4F90-BFF7-39CAE99F57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57">
              <a:extLst>
                <a:ext uri="{FF2B5EF4-FFF2-40B4-BE49-F238E27FC236}">
                  <a16:creationId xmlns:a16="http://schemas.microsoft.com/office/drawing/2014/main" id="{75B8334A-3C81-4C53-858D-92D5295A8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58">
              <a:extLst>
                <a:ext uri="{FF2B5EF4-FFF2-40B4-BE49-F238E27FC236}">
                  <a16:creationId xmlns:a16="http://schemas.microsoft.com/office/drawing/2014/main" id="{9EB00862-AA34-4A06-8EF3-8EE78060A6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3F22329-4170-B344-C82A-27D0FE5B8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1771" y="2576514"/>
            <a:ext cx="4405661" cy="1801813"/>
          </a:xfrm>
        </p:spPr>
        <p:txBody>
          <a:bodyPr>
            <a:noAutofit/>
          </a:bodyPr>
          <a:lstStyle/>
          <a:p>
            <a:pPr algn="ctr"/>
            <a:r>
              <a:rPr lang="en-US" sz="4400" b="1" dirty="0"/>
              <a:t>Proof of Concept Webpage</a:t>
            </a:r>
            <a:br>
              <a:rPr lang="en-CA" sz="4400" b="1" dirty="0"/>
            </a:br>
            <a:endParaRPr lang="en-CA" sz="4400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96B69E10-B78A-42BA-903C-86D9965C43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55895" y="-464"/>
            <a:ext cx="2646" cy="6858465"/>
          </a:xfrm>
          <a:prstGeom prst="line">
            <a:avLst/>
          </a:prstGeom>
          <a:solidFill>
            <a:schemeClr val="tx2">
              <a:alpha val="60000"/>
            </a:schemeClr>
          </a:solidFill>
          <a:ln w="19050">
            <a:solidFill>
              <a:schemeClr val="tx2">
                <a:alpha val="60000"/>
              </a:schemeClr>
            </a:solidFill>
          </a:ln>
          <a:effectLst>
            <a:outerShdw blurRad="50800" dist="38100" dir="2700000" algn="tl" rotWithShape="0">
              <a:srgbClr val="000000">
                <a:alpha val="58000"/>
              </a:srgbClr>
            </a:outerShdw>
          </a:effectLst>
        </p:spPr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6EC9FA34-3CEC-42B1-8AEA-F261C70C0F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5597" y="3427414"/>
            <a:ext cx="7558541" cy="0"/>
          </a:xfrm>
          <a:prstGeom prst="line">
            <a:avLst/>
          </a:prstGeom>
          <a:solidFill>
            <a:schemeClr val="tx2">
              <a:alpha val="60000"/>
            </a:schemeClr>
          </a:solidFill>
          <a:ln w="19050">
            <a:solidFill>
              <a:schemeClr val="tx2">
                <a:alpha val="60000"/>
              </a:schemeClr>
            </a:solidFill>
          </a:ln>
          <a:effectLst>
            <a:outerShdw blurRad="50800" dist="38100" dir="2700000" algn="tl" rotWithShape="0">
              <a:srgbClr val="000000">
                <a:alpha val="58000"/>
              </a:srgb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721457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8A870-DD96-31B7-4467-158761ECC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7" y="87730"/>
            <a:ext cx="5112373" cy="1368537"/>
          </a:xfrm>
        </p:spPr>
        <p:txBody>
          <a:bodyPr anchor="ctr">
            <a:normAutofit/>
          </a:bodyPr>
          <a:lstStyle/>
          <a:p>
            <a:r>
              <a:rPr lang="en-US" sz="4000" dirty="0"/>
              <a:t> Proposed Solution</a:t>
            </a:r>
            <a:endParaRPr lang="en-CA" sz="4000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4BDDB54D-A544-A5D9-4813-AF0C8C1A6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9" y="1998133"/>
            <a:ext cx="5112373" cy="4358217"/>
          </a:xfrm>
        </p:spPr>
        <p:txBody>
          <a:bodyPr anchor="ctr">
            <a:normAutofit/>
          </a:bodyPr>
          <a:lstStyle/>
          <a:p>
            <a:r>
              <a:rPr lang="en-US" sz="2600" b="1" dirty="0">
                <a:latin typeface="+mj-lt"/>
              </a:rPr>
              <a:t>Centralized system</a:t>
            </a:r>
          </a:p>
          <a:p>
            <a:r>
              <a:rPr lang="en-US" sz="2600" b="1" dirty="0">
                <a:latin typeface="+mj-lt"/>
              </a:rPr>
              <a:t>Clearly organized data</a:t>
            </a:r>
          </a:p>
          <a:p>
            <a:r>
              <a:rPr lang="en-US" sz="2600" b="1" dirty="0"/>
              <a:t>Visually comprehensible  </a:t>
            </a:r>
          </a:p>
          <a:p>
            <a:endParaRPr lang="en-US" sz="2600" b="1" dirty="0">
              <a:latin typeface="+mj-lt"/>
            </a:endParaRPr>
          </a:p>
          <a:p>
            <a:pPr marL="0" indent="0">
              <a:buNone/>
            </a:pPr>
            <a:endParaRPr lang="en-US" sz="2600" dirty="0"/>
          </a:p>
          <a:p>
            <a:endParaRPr lang="en-CA" sz="2600" dirty="0"/>
          </a:p>
          <a:p>
            <a:endParaRPr lang="en-CA" sz="2000" dirty="0"/>
          </a:p>
        </p:txBody>
      </p:sp>
      <p:pic>
        <p:nvPicPr>
          <p:cNvPr id="5" name="Picture 4" descr="3D Hologram from iPad">
            <a:extLst>
              <a:ext uri="{FF2B5EF4-FFF2-40B4-BE49-F238E27FC236}">
                <a16:creationId xmlns:a16="http://schemas.microsoft.com/office/drawing/2014/main" id="{4303D828-EAB5-2CC6-EEF5-EBCB1A1E8E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647" r="28952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5782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C89D1-EEDA-C1AD-942D-6FE80B0FB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6103-A781-04F0-C1A4-D2C0C984C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66" y="3429000"/>
            <a:ext cx="7736945" cy="2482222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CA" sz="7200" dirty="0"/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210706335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489</TotalTime>
  <Words>94</Words>
  <Application>Microsoft Office PowerPoint</Application>
  <PresentationFormat>Widescreen</PresentationFormat>
  <Paragraphs>33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Amasis MT Pro Black</vt:lpstr>
      <vt:lpstr>Arial</vt:lpstr>
      <vt:lpstr>Tw Cen MT</vt:lpstr>
      <vt:lpstr>Circuit</vt:lpstr>
      <vt:lpstr>National Infrastructure Database-Modernized</vt:lpstr>
      <vt:lpstr>The Problem </vt:lpstr>
      <vt:lpstr>Why Centralization Matters</vt:lpstr>
      <vt:lpstr> project Goals </vt:lpstr>
      <vt:lpstr>ERD Overview</vt:lpstr>
      <vt:lpstr>SQL Demo: Key Queries</vt:lpstr>
      <vt:lpstr>Project Data – XML &amp; JSON</vt:lpstr>
      <vt:lpstr>Proof of Concept Webpage </vt:lpstr>
      <vt:lpstr> Proposed Solution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Duru Elli</dc:creator>
  <cp:lastModifiedBy>Aishat Mohammed</cp:lastModifiedBy>
  <cp:revision>7</cp:revision>
  <dcterms:created xsi:type="dcterms:W3CDTF">2025-12-04T18:18:08Z</dcterms:created>
  <dcterms:modified xsi:type="dcterms:W3CDTF">2025-12-09T20:03:24Z</dcterms:modified>
</cp:coreProperties>
</file>