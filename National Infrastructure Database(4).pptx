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6" r:id="rId2"/>
    <p:sldId id="268" r:id="rId3"/>
    <p:sldId id="257" r:id="rId4"/>
    <p:sldId id="258" r:id="rId5"/>
    <p:sldId id="261" r:id="rId6"/>
    <p:sldId id="260" r:id="rId7"/>
    <p:sldId id="262" r:id="rId8"/>
    <p:sldId id="264" r:id="rId9"/>
    <p:sldId id="265" r:id="rId10"/>
    <p:sldId id="259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864DAB-9D80-4456-93AF-A44D8B5A583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451851-DB61-4A5F-BE6C-9BDDA47658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baseline="0" dirty="0"/>
            <a:t>Makes project progress, budgets, and contractors visible at a glance</a:t>
          </a:r>
          <a:endParaRPr lang="en-US" sz="1800" dirty="0"/>
        </a:p>
      </dgm:t>
    </dgm:pt>
    <dgm:pt modelId="{CEC83F40-FF7C-4FA1-97AC-B69C0A335302}" type="parTrans" cxnId="{67ACFD9B-36F7-495A-8B8F-38CF8C36A667}">
      <dgm:prSet/>
      <dgm:spPr/>
      <dgm:t>
        <a:bodyPr/>
        <a:lstStyle/>
        <a:p>
          <a:endParaRPr lang="en-US"/>
        </a:p>
      </dgm:t>
    </dgm:pt>
    <dgm:pt modelId="{8C9A1CEA-2618-4670-BAFE-33FF4E6E9B59}" type="sibTrans" cxnId="{67ACFD9B-36F7-495A-8B8F-38CF8C36A66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BAC2F02-5855-4C7A-9112-772362232F3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baseline="0" dirty="0"/>
            <a:t>Helps ICC spot delays, risks, and cost issues quickly</a:t>
          </a:r>
          <a:endParaRPr lang="en-US" sz="1800" dirty="0"/>
        </a:p>
      </dgm:t>
    </dgm:pt>
    <dgm:pt modelId="{6536FF37-F939-43DA-9B5E-16496698DE69}" type="parTrans" cxnId="{7A356E6C-C523-48A5-B9B6-40642B6E0338}">
      <dgm:prSet/>
      <dgm:spPr/>
      <dgm:t>
        <a:bodyPr/>
        <a:lstStyle/>
        <a:p>
          <a:endParaRPr lang="en-US"/>
        </a:p>
      </dgm:t>
    </dgm:pt>
    <dgm:pt modelId="{0637DA32-333A-4C18-A2ED-D1D8CFEDC589}" type="sibTrans" cxnId="{7A356E6C-C523-48A5-B9B6-40642B6E033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F4C435-B430-46A9-86E1-BCD34F19780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baseline="0" dirty="0"/>
            <a:t>Demonstrates real-world use of XML, JSON, and database integration</a:t>
          </a:r>
          <a:endParaRPr lang="en-US" sz="1800" dirty="0"/>
        </a:p>
      </dgm:t>
    </dgm:pt>
    <dgm:pt modelId="{D69535D2-CF61-4796-A81F-91DD3B67E486}" type="parTrans" cxnId="{64CF1A68-172A-423C-8A2E-830C8223AC5F}">
      <dgm:prSet/>
      <dgm:spPr/>
      <dgm:t>
        <a:bodyPr/>
        <a:lstStyle/>
        <a:p>
          <a:endParaRPr lang="en-US"/>
        </a:p>
      </dgm:t>
    </dgm:pt>
    <dgm:pt modelId="{DDD8095D-BA8F-4F7F-A8AA-3665E9E1A39A}" type="sibTrans" cxnId="{64CF1A68-172A-423C-8A2E-830C8223AC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4EA1424-2E95-4DF6-9E47-783B94A61C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baseline="0" dirty="0"/>
            <a:t>Brings all project information together in a single, reliable system</a:t>
          </a:r>
          <a:endParaRPr lang="en-US" sz="1800" dirty="0"/>
        </a:p>
      </dgm:t>
    </dgm:pt>
    <dgm:pt modelId="{674A7441-2A33-4086-B77F-0DD86EB6E882}" type="parTrans" cxnId="{1B89158B-E5FC-4BEA-9DE7-8ABAC66352FA}">
      <dgm:prSet/>
      <dgm:spPr/>
      <dgm:t>
        <a:bodyPr/>
        <a:lstStyle/>
        <a:p>
          <a:endParaRPr lang="en-US"/>
        </a:p>
      </dgm:t>
    </dgm:pt>
    <dgm:pt modelId="{61D74366-754D-481F-BAE1-A16D4393822E}" type="sibTrans" cxnId="{1B89158B-E5FC-4BEA-9DE7-8ABAC66352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FE99A4-1B4E-47E3-84F5-AD393A7E7F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baseline="0" dirty="0"/>
            <a:t>Provides an interactive website to view and manage projects efficiently</a:t>
          </a:r>
          <a:endParaRPr lang="en-US" sz="1800" dirty="0"/>
        </a:p>
      </dgm:t>
    </dgm:pt>
    <dgm:pt modelId="{B41384F6-AD33-408F-8010-74EAADC67AF2}" type="parTrans" cxnId="{0889AC7A-DD89-4624-93E2-1A275F23B41A}">
      <dgm:prSet/>
      <dgm:spPr/>
      <dgm:t>
        <a:bodyPr/>
        <a:lstStyle/>
        <a:p>
          <a:endParaRPr lang="en-US"/>
        </a:p>
      </dgm:t>
    </dgm:pt>
    <dgm:pt modelId="{6E507AB3-9D1C-4129-B814-699F8FBC4B05}" type="sibTrans" cxnId="{0889AC7A-DD89-4624-93E2-1A275F23B41A}">
      <dgm:prSet/>
      <dgm:spPr/>
      <dgm:t>
        <a:bodyPr/>
        <a:lstStyle/>
        <a:p>
          <a:endParaRPr lang="en-US"/>
        </a:p>
      </dgm:t>
    </dgm:pt>
    <dgm:pt modelId="{769298A1-929B-4253-BA7D-6D3880C3134D}" type="pres">
      <dgm:prSet presAssocID="{D0864DAB-9D80-4456-93AF-A44D8B5A5831}" presName="root" presStyleCnt="0">
        <dgm:presLayoutVars>
          <dgm:dir/>
          <dgm:resizeHandles val="exact"/>
        </dgm:presLayoutVars>
      </dgm:prSet>
      <dgm:spPr/>
    </dgm:pt>
    <dgm:pt modelId="{72B3D348-B773-4C25-A0D0-6EEB5FFC16E0}" type="pres">
      <dgm:prSet presAssocID="{D0864DAB-9D80-4456-93AF-A44D8B5A5831}" presName="container" presStyleCnt="0">
        <dgm:presLayoutVars>
          <dgm:dir/>
          <dgm:resizeHandles val="exact"/>
        </dgm:presLayoutVars>
      </dgm:prSet>
      <dgm:spPr/>
    </dgm:pt>
    <dgm:pt modelId="{1A96E4D6-C013-4129-AC7A-7812D8803F01}" type="pres">
      <dgm:prSet presAssocID="{F2451851-DB61-4A5F-BE6C-9BDDA47658A8}" presName="compNode" presStyleCnt="0"/>
      <dgm:spPr/>
    </dgm:pt>
    <dgm:pt modelId="{8F08A73C-330E-4BE7-9BDE-0A1C62EA210C}" type="pres">
      <dgm:prSet presAssocID="{F2451851-DB61-4A5F-BE6C-9BDDA47658A8}" presName="iconBgRect" presStyleLbl="bgShp" presStyleIdx="0" presStyleCnt="5"/>
      <dgm:spPr/>
    </dgm:pt>
    <dgm:pt modelId="{C38E9A53-F0E7-46F6-97AE-7F2B122A70D7}" type="pres">
      <dgm:prSet presAssocID="{F2451851-DB61-4A5F-BE6C-9BDDA47658A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C467F787-E3C3-4661-911B-22A8232785D4}" type="pres">
      <dgm:prSet presAssocID="{F2451851-DB61-4A5F-BE6C-9BDDA47658A8}" presName="spaceRect" presStyleCnt="0"/>
      <dgm:spPr/>
    </dgm:pt>
    <dgm:pt modelId="{6025D9F6-4810-45A8-A80F-B7E59ACD21EB}" type="pres">
      <dgm:prSet presAssocID="{F2451851-DB61-4A5F-BE6C-9BDDA47658A8}" presName="textRect" presStyleLbl="revTx" presStyleIdx="0" presStyleCnt="5" custScaleX="96072" custScaleY="99058" custLinFactNeighborX="-8441" custLinFactNeighborY="12845">
        <dgm:presLayoutVars>
          <dgm:chMax val="1"/>
          <dgm:chPref val="1"/>
        </dgm:presLayoutVars>
      </dgm:prSet>
      <dgm:spPr/>
    </dgm:pt>
    <dgm:pt modelId="{52AA11DC-780C-4C0A-BECB-ED464B6656AF}" type="pres">
      <dgm:prSet presAssocID="{8C9A1CEA-2618-4670-BAFE-33FF4E6E9B59}" presName="sibTrans" presStyleLbl="sibTrans2D1" presStyleIdx="0" presStyleCnt="0"/>
      <dgm:spPr/>
    </dgm:pt>
    <dgm:pt modelId="{D7B249B0-9FF8-4B64-8384-DC907793EBB7}" type="pres">
      <dgm:prSet presAssocID="{ABAC2F02-5855-4C7A-9112-772362232F32}" presName="compNode" presStyleCnt="0"/>
      <dgm:spPr/>
    </dgm:pt>
    <dgm:pt modelId="{A6F61F62-B99E-4CA1-843E-8C042B7EEF4F}" type="pres">
      <dgm:prSet presAssocID="{ABAC2F02-5855-4C7A-9112-772362232F32}" presName="iconBgRect" presStyleLbl="bgShp" presStyleIdx="1" presStyleCnt="5"/>
      <dgm:spPr/>
    </dgm:pt>
    <dgm:pt modelId="{CC27B516-01BA-461B-AA92-18970BA15BBA}" type="pres">
      <dgm:prSet presAssocID="{ABAC2F02-5855-4C7A-9112-772362232F3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434D030-6811-46E2-BC75-93E84281EDF0}" type="pres">
      <dgm:prSet presAssocID="{ABAC2F02-5855-4C7A-9112-772362232F32}" presName="spaceRect" presStyleCnt="0"/>
      <dgm:spPr/>
    </dgm:pt>
    <dgm:pt modelId="{BC6B2B67-6B11-46FB-818E-A5A50B37FDC5}" type="pres">
      <dgm:prSet presAssocID="{ABAC2F02-5855-4C7A-9112-772362232F32}" presName="textRect" presStyleLbl="revTx" presStyleIdx="1" presStyleCnt="5">
        <dgm:presLayoutVars>
          <dgm:chMax val="1"/>
          <dgm:chPref val="1"/>
        </dgm:presLayoutVars>
      </dgm:prSet>
      <dgm:spPr/>
    </dgm:pt>
    <dgm:pt modelId="{1F795DB6-5A8B-4B91-BB0A-BAB4BC221024}" type="pres">
      <dgm:prSet presAssocID="{0637DA32-333A-4C18-A2ED-D1D8CFEDC589}" presName="sibTrans" presStyleLbl="sibTrans2D1" presStyleIdx="0" presStyleCnt="0"/>
      <dgm:spPr/>
    </dgm:pt>
    <dgm:pt modelId="{1C5E566F-5963-4DF1-8D5C-C52EDB9C8515}" type="pres">
      <dgm:prSet presAssocID="{96F4C435-B430-46A9-86E1-BCD34F19780E}" presName="compNode" presStyleCnt="0"/>
      <dgm:spPr/>
    </dgm:pt>
    <dgm:pt modelId="{BEE1093F-1AC8-422D-B405-13D061A29B19}" type="pres">
      <dgm:prSet presAssocID="{96F4C435-B430-46A9-86E1-BCD34F19780E}" presName="iconBgRect" presStyleLbl="bgShp" presStyleIdx="2" presStyleCnt="5"/>
      <dgm:spPr/>
    </dgm:pt>
    <dgm:pt modelId="{16BCAF7B-588F-4521-9BFE-00FA8EBC7D1B}" type="pres">
      <dgm:prSet presAssocID="{96F4C435-B430-46A9-86E1-BCD34F19780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BCFB56C-AF5F-4BDD-B4D8-B63A6BC8366D}" type="pres">
      <dgm:prSet presAssocID="{96F4C435-B430-46A9-86E1-BCD34F19780E}" presName="spaceRect" presStyleCnt="0"/>
      <dgm:spPr/>
    </dgm:pt>
    <dgm:pt modelId="{DDB791A6-8A42-4C65-9D9A-3CAF426C0B4D}" type="pres">
      <dgm:prSet presAssocID="{96F4C435-B430-46A9-86E1-BCD34F19780E}" presName="textRect" presStyleLbl="revTx" presStyleIdx="2" presStyleCnt="5">
        <dgm:presLayoutVars>
          <dgm:chMax val="1"/>
          <dgm:chPref val="1"/>
        </dgm:presLayoutVars>
      </dgm:prSet>
      <dgm:spPr/>
    </dgm:pt>
    <dgm:pt modelId="{C6184F75-67D4-43C4-9B04-468D879AE4B5}" type="pres">
      <dgm:prSet presAssocID="{DDD8095D-BA8F-4F7F-A8AA-3665E9E1A39A}" presName="sibTrans" presStyleLbl="sibTrans2D1" presStyleIdx="0" presStyleCnt="0"/>
      <dgm:spPr/>
    </dgm:pt>
    <dgm:pt modelId="{584D1EFD-284D-4DDB-BB27-36A68A5305B1}" type="pres">
      <dgm:prSet presAssocID="{24EA1424-2E95-4DF6-9E47-783B94A61C42}" presName="compNode" presStyleCnt="0"/>
      <dgm:spPr/>
    </dgm:pt>
    <dgm:pt modelId="{F5B1BF9C-E406-4964-BE05-7DABF012A263}" type="pres">
      <dgm:prSet presAssocID="{24EA1424-2E95-4DF6-9E47-783B94A61C42}" presName="iconBgRect" presStyleLbl="bgShp" presStyleIdx="3" presStyleCnt="5" custLinFactNeighborX="-50741"/>
      <dgm:spPr/>
    </dgm:pt>
    <dgm:pt modelId="{31A57B21-49B0-44D5-A88D-EB377D9D59C3}" type="pres">
      <dgm:prSet presAssocID="{24EA1424-2E95-4DF6-9E47-783B94A61C42}" presName="iconRect" presStyleLbl="node1" presStyleIdx="3" presStyleCnt="5" custLinFactNeighborX="-73537" custLinFactNeighborY="-514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5DFD91D-B530-42A5-B1B8-FD50D2EC0ABB}" type="pres">
      <dgm:prSet presAssocID="{24EA1424-2E95-4DF6-9E47-783B94A61C42}" presName="spaceRect" presStyleCnt="0"/>
      <dgm:spPr/>
    </dgm:pt>
    <dgm:pt modelId="{CA6B434E-EC74-45C9-9125-44ACAF66ED6D}" type="pres">
      <dgm:prSet presAssocID="{24EA1424-2E95-4DF6-9E47-783B94A61C42}" presName="textRect" presStyleLbl="revTx" presStyleIdx="3" presStyleCnt="5" custScaleY="6012" custLinFactNeighborX="-20260" custLinFactNeighborY="14924">
        <dgm:presLayoutVars>
          <dgm:chMax val="1"/>
          <dgm:chPref val="1"/>
        </dgm:presLayoutVars>
      </dgm:prSet>
      <dgm:spPr/>
    </dgm:pt>
    <dgm:pt modelId="{184A5622-A112-4875-BAC6-CEC521F9880F}" type="pres">
      <dgm:prSet presAssocID="{61D74366-754D-481F-BAE1-A16D4393822E}" presName="sibTrans" presStyleLbl="sibTrans2D1" presStyleIdx="0" presStyleCnt="0"/>
      <dgm:spPr/>
    </dgm:pt>
    <dgm:pt modelId="{971DF615-C59D-4A3D-8BE2-14FD1DF3308C}" type="pres">
      <dgm:prSet presAssocID="{A5FE99A4-1B4E-47E3-84F5-AD393A7E7F4C}" presName="compNode" presStyleCnt="0"/>
      <dgm:spPr/>
    </dgm:pt>
    <dgm:pt modelId="{C443B782-70A9-43B7-BFEC-CADC556A0549}" type="pres">
      <dgm:prSet presAssocID="{A5FE99A4-1B4E-47E3-84F5-AD393A7E7F4C}" presName="iconBgRect" presStyleLbl="bgShp" presStyleIdx="4" presStyleCnt="5" custLinFactNeighborX="-8955" custLinFactNeighborY="9568"/>
      <dgm:spPr/>
    </dgm:pt>
    <dgm:pt modelId="{90A339E6-78C5-4D1B-B1F4-0DFEDEDD4E3A}" type="pres">
      <dgm:prSet presAssocID="{A5FE99A4-1B4E-47E3-84F5-AD393A7E7F4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4C4B0400-2380-4C9D-9CDB-AF710BF600F0}" type="pres">
      <dgm:prSet presAssocID="{A5FE99A4-1B4E-47E3-84F5-AD393A7E7F4C}" presName="spaceRect" presStyleCnt="0"/>
      <dgm:spPr/>
    </dgm:pt>
    <dgm:pt modelId="{9A7B4926-A88B-424C-8004-B3F0493FB815}" type="pres">
      <dgm:prSet presAssocID="{A5FE99A4-1B4E-47E3-84F5-AD393A7E7F4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5A92A1A-3E57-45E7-8585-C915AA2FEE3A}" type="presOf" srcId="{D0864DAB-9D80-4456-93AF-A44D8B5A5831}" destId="{769298A1-929B-4253-BA7D-6D3880C3134D}" srcOrd="0" destOrd="0" presId="urn:microsoft.com/office/officeart/2018/2/layout/IconCircleList"/>
    <dgm:cxn modelId="{64CF1A68-172A-423C-8A2E-830C8223AC5F}" srcId="{D0864DAB-9D80-4456-93AF-A44D8B5A5831}" destId="{96F4C435-B430-46A9-86E1-BCD34F19780E}" srcOrd="2" destOrd="0" parTransId="{D69535D2-CF61-4796-A81F-91DD3B67E486}" sibTransId="{DDD8095D-BA8F-4F7F-A8AA-3665E9E1A39A}"/>
    <dgm:cxn modelId="{7A356E6C-C523-48A5-B9B6-40642B6E0338}" srcId="{D0864DAB-9D80-4456-93AF-A44D8B5A5831}" destId="{ABAC2F02-5855-4C7A-9112-772362232F32}" srcOrd="1" destOrd="0" parTransId="{6536FF37-F939-43DA-9B5E-16496698DE69}" sibTransId="{0637DA32-333A-4C18-A2ED-D1D8CFEDC589}"/>
    <dgm:cxn modelId="{0889AC7A-DD89-4624-93E2-1A275F23B41A}" srcId="{D0864DAB-9D80-4456-93AF-A44D8B5A5831}" destId="{A5FE99A4-1B4E-47E3-84F5-AD393A7E7F4C}" srcOrd="4" destOrd="0" parTransId="{B41384F6-AD33-408F-8010-74EAADC67AF2}" sibTransId="{6E507AB3-9D1C-4129-B814-699F8FBC4B05}"/>
    <dgm:cxn modelId="{E4339D7B-6C8B-43F7-884F-50D2388E371E}" type="presOf" srcId="{A5FE99A4-1B4E-47E3-84F5-AD393A7E7F4C}" destId="{9A7B4926-A88B-424C-8004-B3F0493FB815}" srcOrd="0" destOrd="0" presId="urn:microsoft.com/office/officeart/2018/2/layout/IconCircleList"/>
    <dgm:cxn modelId="{EB1EB97F-61C8-4DBB-A6A7-01CB0909FFDC}" type="presOf" srcId="{DDD8095D-BA8F-4F7F-A8AA-3665E9E1A39A}" destId="{C6184F75-67D4-43C4-9B04-468D879AE4B5}" srcOrd="0" destOrd="0" presId="urn:microsoft.com/office/officeart/2018/2/layout/IconCircleList"/>
    <dgm:cxn modelId="{2DDC9781-6C5A-454F-8A9D-687511D77EA4}" type="presOf" srcId="{F2451851-DB61-4A5F-BE6C-9BDDA47658A8}" destId="{6025D9F6-4810-45A8-A80F-B7E59ACD21EB}" srcOrd="0" destOrd="0" presId="urn:microsoft.com/office/officeart/2018/2/layout/IconCircleList"/>
    <dgm:cxn modelId="{1B89158B-E5FC-4BEA-9DE7-8ABAC66352FA}" srcId="{D0864DAB-9D80-4456-93AF-A44D8B5A5831}" destId="{24EA1424-2E95-4DF6-9E47-783B94A61C42}" srcOrd="3" destOrd="0" parTransId="{674A7441-2A33-4086-B77F-0DD86EB6E882}" sibTransId="{61D74366-754D-481F-BAE1-A16D4393822E}"/>
    <dgm:cxn modelId="{67ACFD9B-36F7-495A-8B8F-38CF8C36A667}" srcId="{D0864DAB-9D80-4456-93AF-A44D8B5A5831}" destId="{F2451851-DB61-4A5F-BE6C-9BDDA47658A8}" srcOrd="0" destOrd="0" parTransId="{CEC83F40-FF7C-4FA1-97AC-B69C0A335302}" sibTransId="{8C9A1CEA-2618-4670-BAFE-33FF4E6E9B59}"/>
    <dgm:cxn modelId="{5B98F6A7-5D39-4803-90E8-45C1426BECFC}" type="presOf" srcId="{8C9A1CEA-2618-4670-BAFE-33FF4E6E9B59}" destId="{52AA11DC-780C-4C0A-BECB-ED464B6656AF}" srcOrd="0" destOrd="0" presId="urn:microsoft.com/office/officeart/2018/2/layout/IconCircleList"/>
    <dgm:cxn modelId="{C19B85AB-BB25-4F6A-B559-6A97D48E400C}" type="presOf" srcId="{ABAC2F02-5855-4C7A-9112-772362232F32}" destId="{BC6B2B67-6B11-46FB-818E-A5A50B37FDC5}" srcOrd="0" destOrd="0" presId="urn:microsoft.com/office/officeart/2018/2/layout/IconCircleList"/>
    <dgm:cxn modelId="{84D1A2B5-FBCF-42CA-9EE2-5E65E5513583}" type="presOf" srcId="{0637DA32-333A-4C18-A2ED-D1D8CFEDC589}" destId="{1F795DB6-5A8B-4B91-BB0A-BAB4BC221024}" srcOrd="0" destOrd="0" presId="urn:microsoft.com/office/officeart/2018/2/layout/IconCircleList"/>
    <dgm:cxn modelId="{FC653CD7-970A-4A69-A554-D4A343547BCF}" type="presOf" srcId="{96F4C435-B430-46A9-86E1-BCD34F19780E}" destId="{DDB791A6-8A42-4C65-9D9A-3CAF426C0B4D}" srcOrd="0" destOrd="0" presId="urn:microsoft.com/office/officeart/2018/2/layout/IconCircleList"/>
    <dgm:cxn modelId="{B02EBAE4-8AD9-4D29-B226-BE680B53C225}" type="presOf" srcId="{24EA1424-2E95-4DF6-9E47-783B94A61C42}" destId="{CA6B434E-EC74-45C9-9125-44ACAF66ED6D}" srcOrd="0" destOrd="0" presId="urn:microsoft.com/office/officeart/2018/2/layout/IconCircleList"/>
    <dgm:cxn modelId="{6C456EFE-380F-4609-95B0-344735F82D7F}" type="presOf" srcId="{61D74366-754D-481F-BAE1-A16D4393822E}" destId="{184A5622-A112-4875-BAC6-CEC521F9880F}" srcOrd="0" destOrd="0" presId="urn:microsoft.com/office/officeart/2018/2/layout/IconCircleList"/>
    <dgm:cxn modelId="{78E08EF7-052A-433D-A588-20B6880EB309}" type="presParOf" srcId="{769298A1-929B-4253-BA7D-6D3880C3134D}" destId="{72B3D348-B773-4C25-A0D0-6EEB5FFC16E0}" srcOrd="0" destOrd="0" presId="urn:microsoft.com/office/officeart/2018/2/layout/IconCircleList"/>
    <dgm:cxn modelId="{286CAEF6-CEAA-43BD-B958-1D50FAC9CFED}" type="presParOf" srcId="{72B3D348-B773-4C25-A0D0-6EEB5FFC16E0}" destId="{1A96E4D6-C013-4129-AC7A-7812D8803F01}" srcOrd="0" destOrd="0" presId="urn:microsoft.com/office/officeart/2018/2/layout/IconCircleList"/>
    <dgm:cxn modelId="{7358B62B-3C1D-4233-9A7C-40B87A18D6D8}" type="presParOf" srcId="{1A96E4D6-C013-4129-AC7A-7812D8803F01}" destId="{8F08A73C-330E-4BE7-9BDE-0A1C62EA210C}" srcOrd="0" destOrd="0" presId="urn:microsoft.com/office/officeart/2018/2/layout/IconCircleList"/>
    <dgm:cxn modelId="{EA4EC1AD-EDFA-43DD-BB9D-D33746CB16D9}" type="presParOf" srcId="{1A96E4D6-C013-4129-AC7A-7812D8803F01}" destId="{C38E9A53-F0E7-46F6-97AE-7F2B122A70D7}" srcOrd="1" destOrd="0" presId="urn:microsoft.com/office/officeart/2018/2/layout/IconCircleList"/>
    <dgm:cxn modelId="{102909A8-E0AC-40B0-B6C7-4D7BFC37E32D}" type="presParOf" srcId="{1A96E4D6-C013-4129-AC7A-7812D8803F01}" destId="{C467F787-E3C3-4661-911B-22A8232785D4}" srcOrd="2" destOrd="0" presId="urn:microsoft.com/office/officeart/2018/2/layout/IconCircleList"/>
    <dgm:cxn modelId="{7FF83C45-44E6-4023-A645-E641E2A2B7A3}" type="presParOf" srcId="{1A96E4D6-C013-4129-AC7A-7812D8803F01}" destId="{6025D9F6-4810-45A8-A80F-B7E59ACD21EB}" srcOrd="3" destOrd="0" presId="urn:microsoft.com/office/officeart/2018/2/layout/IconCircleList"/>
    <dgm:cxn modelId="{BBA911CD-B2A3-4277-A253-04A1D5B0B9BC}" type="presParOf" srcId="{72B3D348-B773-4C25-A0D0-6EEB5FFC16E0}" destId="{52AA11DC-780C-4C0A-BECB-ED464B6656AF}" srcOrd="1" destOrd="0" presId="urn:microsoft.com/office/officeart/2018/2/layout/IconCircleList"/>
    <dgm:cxn modelId="{5D4EECE8-86F1-4968-8CDA-2BFBB44E75A3}" type="presParOf" srcId="{72B3D348-B773-4C25-A0D0-6EEB5FFC16E0}" destId="{D7B249B0-9FF8-4B64-8384-DC907793EBB7}" srcOrd="2" destOrd="0" presId="urn:microsoft.com/office/officeart/2018/2/layout/IconCircleList"/>
    <dgm:cxn modelId="{E8D52DD8-CB04-4E22-9B77-2E15A97AD393}" type="presParOf" srcId="{D7B249B0-9FF8-4B64-8384-DC907793EBB7}" destId="{A6F61F62-B99E-4CA1-843E-8C042B7EEF4F}" srcOrd="0" destOrd="0" presId="urn:microsoft.com/office/officeart/2018/2/layout/IconCircleList"/>
    <dgm:cxn modelId="{8C5A1A3F-D5EB-48BF-A3A3-6A09D9179580}" type="presParOf" srcId="{D7B249B0-9FF8-4B64-8384-DC907793EBB7}" destId="{CC27B516-01BA-461B-AA92-18970BA15BBA}" srcOrd="1" destOrd="0" presId="urn:microsoft.com/office/officeart/2018/2/layout/IconCircleList"/>
    <dgm:cxn modelId="{41F5174F-2527-42A2-88C1-726E783DB0D9}" type="presParOf" srcId="{D7B249B0-9FF8-4B64-8384-DC907793EBB7}" destId="{A434D030-6811-46E2-BC75-93E84281EDF0}" srcOrd="2" destOrd="0" presId="urn:microsoft.com/office/officeart/2018/2/layout/IconCircleList"/>
    <dgm:cxn modelId="{ADBD0751-6CEE-460D-9F10-F9DD9DDEA008}" type="presParOf" srcId="{D7B249B0-9FF8-4B64-8384-DC907793EBB7}" destId="{BC6B2B67-6B11-46FB-818E-A5A50B37FDC5}" srcOrd="3" destOrd="0" presId="urn:microsoft.com/office/officeart/2018/2/layout/IconCircleList"/>
    <dgm:cxn modelId="{DCE26BBE-B119-40FE-8D81-70E879BFD178}" type="presParOf" srcId="{72B3D348-B773-4C25-A0D0-6EEB5FFC16E0}" destId="{1F795DB6-5A8B-4B91-BB0A-BAB4BC221024}" srcOrd="3" destOrd="0" presId="urn:microsoft.com/office/officeart/2018/2/layout/IconCircleList"/>
    <dgm:cxn modelId="{F2ACB53B-A1F6-450A-893C-AC9003961B1C}" type="presParOf" srcId="{72B3D348-B773-4C25-A0D0-6EEB5FFC16E0}" destId="{1C5E566F-5963-4DF1-8D5C-C52EDB9C8515}" srcOrd="4" destOrd="0" presId="urn:microsoft.com/office/officeart/2018/2/layout/IconCircleList"/>
    <dgm:cxn modelId="{8DBFA874-DA84-4D54-AFC3-48BD2D12F34B}" type="presParOf" srcId="{1C5E566F-5963-4DF1-8D5C-C52EDB9C8515}" destId="{BEE1093F-1AC8-422D-B405-13D061A29B19}" srcOrd="0" destOrd="0" presId="urn:microsoft.com/office/officeart/2018/2/layout/IconCircleList"/>
    <dgm:cxn modelId="{7807CD4D-9967-4D11-B39A-7C7EB4238AF6}" type="presParOf" srcId="{1C5E566F-5963-4DF1-8D5C-C52EDB9C8515}" destId="{16BCAF7B-588F-4521-9BFE-00FA8EBC7D1B}" srcOrd="1" destOrd="0" presId="urn:microsoft.com/office/officeart/2018/2/layout/IconCircleList"/>
    <dgm:cxn modelId="{DC3C4146-1002-4052-B7B0-848595F13382}" type="presParOf" srcId="{1C5E566F-5963-4DF1-8D5C-C52EDB9C8515}" destId="{BBCFB56C-AF5F-4BDD-B4D8-B63A6BC8366D}" srcOrd="2" destOrd="0" presId="urn:microsoft.com/office/officeart/2018/2/layout/IconCircleList"/>
    <dgm:cxn modelId="{CFFB7024-CB89-4F91-B398-2E262B4B496B}" type="presParOf" srcId="{1C5E566F-5963-4DF1-8D5C-C52EDB9C8515}" destId="{DDB791A6-8A42-4C65-9D9A-3CAF426C0B4D}" srcOrd="3" destOrd="0" presId="urn:microsoft.com/office/officeart/2018/2/layout/IconCircleList"/>
    <dgm:cxn modelId="{83CA0D09-69D2-457C-8078-32CB75794282}" type="presParOf" srcId="{72B3D348-B773-4C25-A0D0-6EEB5FFC16E0}" destId="{C6184F75-67D4-43C4-9B04-468D879AE4B5}" srcOrd="5" destOrd="0" presId="urn:microsoft.com/office/officeart/2018/2/layout/IconCircleList"/>
    <dgm:cxn modelId="{E75B259F-39A5-452E-B968-C3E56B22D2F2}" type="presParOf" srcId="{72B3D348-B773-4C25-A0D0-6EEB5FFC16E0}" destId="{584D1EFD-284D-4DDB-BB27-36A68A5305B1}" srcOrd="6" destOrd="0" presId="urn:microsoft.com/office/officeart/2018/2/layout/IconCircleList"/>
    <dgm:cxn modelId="{2C2931E5-3224-466C-9DA8-28F506CC731A}" type="presParOf" srcId="{584D1EFD-284D-4DDB-BB27-36A68A5305B1}" destId="{F5B1BF9C-E406-4964-BE05-7DABF012A263}" srcOrd="0" destOrd="0" presId="urn:microsoft.com/office/officeart/2018/2/layout/IconCircleList"/>
    <dgm:cxn modelId="{F0C4E20F-9D12-440B-8994-9C24199381A8}" type="presParOf" srcId="{584D1EFD-284D-4DDB-BB27-36A68A5305B1}" destId="{31A57B21-49B0-44D5-A88D-EB377D9D59C3}" srcOrd="1" destOrd="0" presId="urn:microsoft.com/office/officeart/2018/2/layout/IconCircleList"/>
    <dgm:cxn modelId="{107D3717-0B3A-4A8B-83F6-B07613FC3CDF}" type="presParOf" srcId="{584D1EFD-284D-4DDB-BB27-36A68A5305B1}" destId="{B5DFD91D-B530-42A5-B1B8-FD50D2EC0ABB}" srcOrd="2" destOrd="0" presId="urn:microsoft.com/office/officeart/2018/2/layout/IconCircleList"/>
    <dgm:cxn modelId="{A2BBE68B-6250-457B-BE63-38CD95839E0D}" type="presParOf" srcId="{584D1EFD-284D-4DDB-BB27-36A68A5305B1}" destId="{CA6B434E-EC74-45C9-9125-44ACAF66ED6D}" srcOrd="3" destOrd="0" presId="urn:microsoft.com/office/officeart/2018/2/layout/IconCircleList"/>
    <dgm:cxn modelId="{385F5125-B180-4397-A479-17787C9A4970}" type="presParOf" srcId="{72B3D348-B773-4C25-A0D0-6EEB5FFC16E0}" destId="{184A5622-A112-4875-BAC6-CEC521F9880F}" srcOrd="7" destOrd="0" presId="urn:microsoft.com/office/officeart/2018/2/layout/IconCircleList"/>
    <dgm:cxn modelId="{89A06E7C-F23C-4F0B-9205-146B8FFB4C6E}" type="presParOf" srcId="{72B3D348-B773-4C25-A0D0-6EEB5FFC16E0}" destId="{971DF615-C59D-4A3D-8BE2-14FD1DF3308C}" srcOrd="8" destOrd="0" presId="urn:microsoft.com/office/officeart/2018/2/layout/IconCircleList"/>
    <dgm:cxn modelId="{A531800B-F374-4B0C-ADFE-2560D4F675CB}" type="presParOf" srcId="{971DF615-C59D-4A3D-8BE2-14FD1DF3308C}" destId="{C443B782-70A9-43B7-BFEC-CADC556A0549}" srcOrd="0" destOrd="0" presId="urn:microsoft.com/office/officeart/2018/2/layout/IconCircleList"/>
    <dgm:cxn modelId="{CDCFAF62-491A-492A-AD9A-1488B1E18542}" type="presParOf" srcId="{971DF615-C59D-4A3D-8BE2-14FD1DF3308C}" destId="{90A339E6-78C5-4D1B-B1F4-0DFEDEDD4E3A}" srcOrd="1" destOrd="0" presId="urn:microsoft.com/office/officeart/2018/2/layout/IconCircleList"/>
    <dgm:cxn modelId="{A321F994-7A97-4B6A-A4B4-85EC8F72E2F8}" type="presParOf" srcId="{971DF615-C59D-4A3D-8BE2-14FD1DF3308C}" destId="{4C4B0400-2380-4C9D-9CDB-AF710BF600F0}" srcOrd="2" destOrd="0" presId="urn:microsoft.com/office/officeart/2018/2/layout/IconCircleList"/>
    <dgm:cxn modelId="{AB0F3829-34F3-454D-944C-6DBD085E3A98}" type="presParOf" srcId="{971DF615-C59D-4A3D-8BE2-14FD1DF3308C}" destId="{9A7B4926-A88B-424C-8004-B3F0493FB81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8A73C-330E-4BE7-9BDE-0A1C62EA210C}">
      <dsp:nvSpPr>
        <dsp:cNvPr id="0" name=""/>
        <dsp:cNvSpPr/>
      </dsp:nvSpPr>
      <dsp:spPr>
        <a:xfrm>
          <a:off x="880644" y="81418"/>
          <a:ext cx="850990" cy="850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E9A53-F0E7-46F6-97AE-7F2B122A70D7}">
      <dsp:nvSpPr>
        <dsp:cNvPr id="0" name=""/>
        <dsp:cNvSpPr/>
      </dsp:nvSpPr>
      <dsp:spPr>
        <a:xfrm>
          <a:off x="1059352" y="260126"/>
          <a:ext cx="493574" cy="493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5D9F6-4810-45A8-A80F-B7E59ACD21EB}">
      <dsp:nvSpPr>
        <dsp:cNvPr id="0" name=""/>
        <dsp:cNvSpPr/>
      </dsp:nvSpPr>
      <dsp:spPr>
        <a:xfrm>
          <a:off x="1784067" y="194736"/>
          <a:ext cx="1927113" cy="842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Makes project progress, budgets, and contractors visible at a glance</a:t>
          </a:r>
          <a:endParaRPr lang="en-US" sz="1800" kern="1200" dirty="0"/>
        </a:p>
      </dsp:txBody>
      <dsp:txXfrm>
        <a:off x="1784067" y="194736"/>
        <a:ext cx="1927113" cy="842973"/>
      </dsp:txXfrm>
    </dsp:sp>
    <dsp:sp modelId="{A6F61F62-B99E-4CA1-843E-8C042B7EEF4F}">
      <dsp:nvSpPr>
        <dsp:cNvPr id="0" name=""/>
        <dsp:cNvSpPr/>
      </dsp:nvSpPr>
      <dsp:spPr>
        <a:xfrm>
          <a:off x="4230012" y="81418"/>
          <a:ext cx="850990" cy="850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7B516-01BA-461B-AA92-18970BA15BBA}">
      <dsp:nvSpPr>
        <dsp:cNvPr id="0" name=""/>
        <dsp:cNvSpPr/>
      </dsp:nvSpPr>
      <dsp:spPr>
        <a:xfrm>
          <a:off x="4408720" y="260126"/>
          <a:ext cx="493574" cy="4935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B2B67-6B11-46FB-818E-A5A50B37FDC5}">
      <dsp:nvSpPr>
        <dsp:cNvPr id="0" name=""/>
        <dsp:cNvSpPr/>
      </dsp:nvSpPr>
      <dsp:spPr>
        <a:xfrm>
          <a:off x="5263357" y="81418"/>
          <a:ext cx="2005905" cy="850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Helps ICC spot delays, risks, and cost issues quickly</a:t>
          </a:r>
          <a:endParaRPr lang="en-US" sz="1800" kern="1200" dirty="0"/>
        </a:p>
      </dsp:txBody>
      <dsp:txXfrm>
        <a:off x="5263357" y="81418"/>
        <a:ext cx="2005905" cy="850990"/>
      </dsp:txXfrm>
    </dsp:sp>
    <dsp:sp modelId="{BEE1093F-1AC8-422D-B405-13D061A29B19}">
      <dsp:nvSpPr>
        <dsp:cNvPr id="0" name=""/>
        <dsp:cNvSpPr/>
      </dsp:nvSpPr>
      <dsp:spPr>
        <a:xfrm>
          <a:off x="7618777" y="81418"/>
          <a:ext cx="850990" cy="850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CAF7B-588F-4521-9BFE-00FA8EBC7D1B}">
      <dsp:nvSpPr>
        <dsp:cNvPr id="0" name=""/>
        <dsp:cNvSpPr/>
      </dsp:nvSpPr>
      <dsp:spPr>
        <a:xfrm>
          <a:off x="7797484" y="260126"/>
          <a:ext cx="493574" cy="4935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791A6-8A42-4C65-9D9A-3CAF426C0B4D}">
      <dsp:nvSpPr>
        <dsp:cNvPr id="0" name=""/>
        <dsp:cNvSpPr/>
      </dsp:nvSpPr>
      <dsp:spPr>
        <a:xfrm>
          <a:off x="8652122" y="81418"/>
          <a:ext cx="2005905" cy="850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Demonstrates real-world use of XML, JSON, and database integration</a:t>
          </a:r>
          <a:endParaRPr lang="en-US" sz="1800" kern="1200" dirty="0"/>
        </a:p>
      </dsp:txBody>
      <dsp:txXfrm>
        <a:off x="8652122" y="81418"/>
        <a:ext cx="2005905" cy="850990"/>
      </dsp:txXfrm>
    </dsp:sp>
    <dsp:sp modelId="{F5B1BF9C-E406-4964-BE05-7DABF012A263}">
      <dsp:nvSpPr>
        <dsp:cNvPr id="0" name=""/>
        <dsp:cNvSpPr/>
      </dsp:nvSpPr>
      <dsp:spPr>
        <a:xfrm>
          <a:off x="448843" y="1314359"/>
          <a:ext cx="850990" cy="850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57B21-49B0-44D5-A88D-EB377D9D59C3}">
      <dsp:nvSpPr>
        <dsp:cNvPr id="0" name=""/>
        <dsp:cNvSpPr/>
      </dsp:nvSpPr>
      <dsp:spPr>
        <a:xfrm>
          <a:off x="696392" y="1467663"/>
          <a:ext cx="493574" cy="4935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6B434E-EC74-45C9-9125-44ACAF66ED6D}">
      <dsp:nvSpPr>
        <dsp:cNvPr id="0" name=""/>
        <dsp:cNvSpPr/>
      </dsp:nvSpPr>
      <dsp:spPr>
        <a:xfrm>
          <a:off x="1507593" y="1841275"/>
          <a:ext cx="2005905" cy="51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Brings all project information together in a single, reliable system</a:t>
          </a:r>
          <a:endParaRPr lang="en-US" sz="1800" kern="1200" dirty="0"/>
        </a:p>
      </dsp:txBody>
      <dsp:txXfrm>
        <a:off x="1507593" y="1841275"/>
        <a:ext cx="2005905" cy="51161"/>
      </dsp:txXfrm>
    </dsp:sp>
    <dsp:sp modelId="{C443B782-70A9-43B7-BFEC-CADC556A0549}">
      <dsp:nvSpPr>
        <dsp:cNvPr id="0" name=""/>
        <dsp:cNvSpPr/>
      </dsp:nvSpPr>
      <dsp:spPr>
        <a:xfrm>
          <a:off x="4193202" y="1395778"/>
          <a:ext cx="850990" cy="850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A339E6-78C5-4D1B-B1F4-0DFEDEDD4E3A}">
      <dsp:nvSpPr>
        <dsp:cNvPr id="0" name=""/>
        <dsp:cNvSpPr/>
      </dsp:nvSpPr>
      <dsp:spPr>
        <a:xfrm>
          <a:off x="4448116" y="1493067"/>
          <a:ext cx="493574" cy="49357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B4926-A88B-424C-8004-B3F0493FB815}">
      <dsp:nvSpPr>
        <dsp:cNvPr id="0" name=""/>
        <dsp:cNvSpPr/>
      </dsp:nvSpPr>
      <dsp:spPr>
        <a:xfrm>
          <a:off x="5302753" y="1314359"/>
          <a:ext cx="2005905" cy="850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Provides an interactive website to view and manage projects efficiently</a:t>
          </a:r>
          <a:endParaRPr lang="en-US" sz="1800" kern="1200" dirty="0"/>
        </a:p>
      </dsp:txBody>
      <dsp:txXfrm>
        <a:off x="5302753" y="1314359"/>
        <a:ext cx="2005905" cy="850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9081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4884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860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388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011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103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457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467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1104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0959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3186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0971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6493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627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2374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8966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401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0065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a hard hat holding a blueprint&#10;&#10;AI-generated content may be incorrect.">
            <a:extLst>
              <a:ext uri="{FF2B5EF4-FFF2-40B4-BE49-F238E27FC236}">
                <a16:creationId xmlns:a16="http://schemas.microsoft.com/office/drawing/2014/main" id="{A45B185E-CD5A-F338-9FBF-34F52442D4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902AB1-CB54-2DF1-CAF2-4EA70400F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National Infrastructure Database-</a:t>
            </a:r>
            <a:r>
              <a:rPr lang="en-US" b="1">
                <a:solidFill>
                  <a:srgbClr val="FFFFFF"/>
                </a:solidFill>
              </a:rPr>
              <a:t>Modernized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2819A-FFED-84FC-4C11-1EFA34E5B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 fontScale="25000" lnSpcReduction="20000"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By: </a:t>
            </a:r>
          </a:p>
          <a:p>
            <a:r>
              <a:rPr lang="en-US" sz="8600" dirty="0">
                <a:solidFill>
                  <a:srgbClr val="FFFFFF"/>
                </a:solidFill>
                <a:latin typeface="Amasis MT Pro Black" panose="020F0502020204030204" pitchFamily="18" charset="0"/>
              </a:rPr>
              <a:t>Jordan Stella</a:t>
            </a:r>
          </a:p>
          <a:p>
            <a:r>
              <a:rPr lang="en-US" sz="8600" dirty="0">
                <a:solidFill>
                  <a:srgbClr val="FFFFFF"/>
                </a:solidFill>
                <a:latin typeface="Amasis MT Pro Black" panose="020F0502020204030204" pitchFamily="18" charset="0"/>
              </a:rPr>
              <a:t>Duru Elli</a:t>
            </a:r>
          </a:p>
          <a:p>
            <a:r>
              <a:rPr lang="en-US" sz="8600" dirty="0">
                <a:solidFill>
                  <a:srgbClr val="FFFFFF"/>
                </a:solidFill>
                <a:latin typeface="Amasis MT Pro Black" panose="020F0502020204030204" pitchFamily="18" charset="0"/>
              </a:rPr>
              <a:t>Mohammed Aishat </a:t>
            </a:r>
            <a:endParaRPr lang="en-CA" sz="8600" dirty="0">
              <a:solidFill>
                <a:srgbClr val="FFFFFF"/>
              </a:solidFill>
              <a:latin typeface="Amasis MT Pro Black" panose="020F0502020204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54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77F1-B227-5B95-5946-AB0F58B1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Our project Goals</a:t>
            </a:r>
            <a:br>
              <a:rPr lang="en-US"/>
            </a:br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7A4969D-BE84-C13A-D628-50B5F1EB2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Build a relational database</a:t>
            </a:r>
          </a:p>
          <a:p>
            <a:pPr lvl="0"/>
            <a:r>
              <a:rPr lang="en-US" altLang="en-US"/>
              <a:t>Provide clean project tracking</a:t>
            </a:r>
          </a:p>
          <a:p>
            <a:pPr lvl="0"/>
            <a:r>
              <a:rPr lang="en-US" altLang="en-US"/>
              <a:t>Make XML &amp; JSON data accessible</a:t>
            </a:r>
          </a:p>
          <a:p>
            <a:pPr lvl="0"/>
            <a:r>
              <a:rPr lang="en-US" altLang="en-US"/>
              <a:t>Create a prototype website</a:t>
            </a:r>
          </a:p>
          <a:p>
            <a:pPr lvl="0"/>
            <a:r>
              <a:rPr lang="en-US" altLang="en-US"/>
              <a:t>Demonstrate how ICC can use this system</a:t>
            </a:r>
          </a:p>
        </p:txBody>
      </p:sp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9B043F88-D502-22FC-4EA4-A1DCC6CF7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0610" y="1071282"/>
            <a:ext cx="4737650" cy="473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1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61A8-4264-F5FA-945B-1750C6F1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The Problem</a:t>
            </a:r>
            <a:endParaRPr lang="en-C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184A6F1-F5C4-FB3C-BB3B-801E0CEA3B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Canada struggles with tracking large-scale infrastructure projects</a:t>
            </a:r>
          </a:p>
          <a:p>
            <a:pPr lvl="0"/>
            <a:r>
              <a:rPr lang="en-US" altLang="en-US"/>
              <a:t>Government departments rely on disconnected spreadsheets</a:t>
            </a:r>
          </a:p>
          <a:p>
            <a:pPr lvl="0"/>
            <a:r>
              <a:rPr lang="en-US" altLang="en-US"/>
              <a:t>Information is scattered between provinces and contractors</a:t>
            </a:r>
          </a:p>
          <a:p>
            <a:pPr lvl="0"/>
            <a:r>
              <a:rPr lang="en-US" altLang="en-US"/>
              <a:t>Difficult to monitor project progress in real time</a:t>
            </a:r>
          </a:p>
          <a:p>
            <a:pPr lvl="0"/>
            <a:r>
              <a:rPr lang="en-US" altLang="en-US"/>
              <a:t>Leads to delays, budgeting issues, and poor transparency</a:t>
            </a:r>
          </a:p>
          <a:p>
            <a:pPr lvl="0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475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49AA-052D-0BAC-9D55-29938203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9" y="1403042"/>
            <a:ext cx="8911687" cy="1644957"/>
          </a:xfrm>
        </p:spPr>
        <p:txBody>
          <a:bodyPr>
            <a:normAutofit/>
          </a:bodyPr>
          <a:lstStyle/>
          <a:p>
            <a:r>
              <a:rPr lang="en-US" sz="4000" dirty="0"/>
              <a:t>Why Centralization Matters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70C36-DCB8-4DCE-75FC-20C3BCBE7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07267"/>
            <a:ext cx="10515600" cy="3069696"/>
          </a:xfrm>
        </p:spPr>
        <p:txBody>
          <a:bodyPr/>
          <a:lstStyle/>
          <a:p>
            <a:r>
              <a:rPr lang="en-US" b="1" dirty="0"/>
              <a:t>Single Source of Truth</a:t>
            </a:r>
            <a:r>
              <a:rPr lang="en-US" dirty="0"/>
              <a:t> </a:t>
            </a:r>
          </a:p>
          <a:p>
            <a:r>
              <a:rPr lang="en-US" b="1" dirty="0"/>
              <a:t>Better Transparency</a:t>
            </a:r>
            <a:r>
              <a:rPr lang="en-US" dirty="0"/>
              <a:t> </a:t>
            </a:r>
          </a:p>
          <a:p>
            <a:r>
              <a:rPr lang="en-US" b="1" dirty="0"/>
              <a:t>Faster Decision-Making</a:t>
            </a:r>
            <a:endParaRPr lang="en-US" dirty="0"/>
          </a:p>
          <a:p>
            <a:r>
              <a:rPr lang="en-US" b="1" dirty="0"/>
              <a:t>Reduced Errors</a:t>
            </a:r>
            <a:endParaRPr lang="en-US" dirty="0"/>
          </a:p>
          <a:p>
            <a:r>
              <a:rPr lang="en-US" b="1" dirty="0"/>
              <a:t>Efficient Oversight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062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F21F-E38F-1E65-A9FF-225D82A3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46" y="1958290"/>
            <a:ext cx="8911687" cy="1280890"/>
          </a:xfrm>
        </p:spPr>
        <p:txBody>
          <a:bodyPr>
            <a:normAutofit/>
          </a:bodyPr>
          <a:lstStyle/>
          <a:p>
            <a:r>
              <a:rPr lang="en-US" sz="4400" dirty="0"/>
              <a:t>Database Structure Breakdown</a:t>
            </a:r>
            <a:endParaRPr lang="en-CA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0096DC-CFE7-7539-11DE-F93E9247E2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0146" y="3239180"/>
            <a:ext cx="1124057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project details (ID, Name, Status, Budget, HQ, Winning Bidder)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Provinces: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region info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Contractors: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contractor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Assignments/Tenders: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Links contractors to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clean, consistent data and avoids duplication</a:t>
            </a:r>
          </a:p>
        </p:txBody>
      </p:sp>
    </p:spTree>
    <p:extLst>
      <p:ext uri="{BB962C8B-B14F-4D97-AF65-F5344CB8AC3E}">
        <p14:creationId xmlns:p14="http://schemas.microsoft.com/office/powerpoint/2010/main" val="64946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FE06-23ED-3CD4-C656-67E560CA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ERD Overview</a:t>
            </a:r>
            <a:endParaRPr lang="en-CA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09FCEA-0B16-FBC5-BDBE-9AEF97980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04479" y="2249487"/>
            <a:ext cx="4844521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ERD maps out how all project information connects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Includes major tables: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Contractors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Provinces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121F7F05-5B81-FCDE-5508-C55F8928F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668" b="3"/>
          <a:stretch>
            <a:fillRect/>
          </a:stretch>
        </p:blipFill>
        <p:spPr>
          <a:xfrm>
            <a:off x="531103" y="1921933"/>
            <a:ext cx="5456419" cy="4535433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729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screenshot of a computer program">
            <a:extLst>
              <a:ext uri="{FF2B5EF4-FFF2-40B4-BE49-F238E27FC236}">
                <a16:creationId xmlns:a16="http://schemas.microsoft.com/office/drawing/2014/main" id="{79B9A238-02A7-8452-D522-105BD1BB1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20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A2FBA4-845D-D32D-AB89-6088BAC5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SQL Demo: Key Queries</a:t>
            </a:r>
            <a:endParaRPr lang="en-CA" sz="400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FBE2FB34-A93E-39D3-2732-F0B0B473EC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161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Projects by province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In-Progress projects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Projects per contractor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Update status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Budget by province</a:t>
            </a:r>
          </a:p>
        </p:txBody>
      </p:sp>
    </p:spTree>
    <p:extLst>
      <p:ext uri="{BB962C8B-B14F-4D97-AF65-F5344CB8AC3E}">
        <p14:creationId xmlns:p14="http://schemas.microsoft.com/office/powerpoint/2010/main" val="3742421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693BD2D-90DE-41D0-B07B-6670FECAB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420D8642-D968-4F94-843D-8C13771EA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4EF1635-745F-4114-8470-B93CB63039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ADE310-421F-4A07-86A0-0E0B3C3E2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40302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92EFF714-AB04-436A-852B-F3B39BFDA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8E6C29E0-88AD-4D53-AAE1-D6E33BF33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CC9A5E51-EE8F-4843-9436-D8B6CE131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0A0AF990-0077-4E68-8DC6-F945BE4C6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26B1F5C8-8321-4D71-B699-C2E87D9CA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4B5C8775-0CF8-43A3-9CAB-1B97F6B2B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5B6C08C1-6FC3-49FF-8D4D-99E13D3BF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95CA3761-3A11-406A-A326-ECF26E072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0AABA579-772E-4579-AC6C-3F6D21659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FE1A6CBE-4C42-4B7A-9453-4BC869D50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825ABAD8-3CA7-4EA3-ACAE-0EA73C71A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7DC73EC9-C427-4ED6-8EBE-BC00E9CF2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428B51A5-ACFB-44C2-9964-16F1DDA5E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C4704545-01A1-468C-95DD-63B90C39A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5F0473CE-D2DB-4ECD-B21A-4CA35148F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08C45B16-DC09-476F-9B4B-692F3D464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D0C0F01F-521A-4AF5-9070-1BBABCE9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DB1723A5-EF2B-4DF7-BC63-F52B5E29F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5631D183-4732-4C19-A23C-B39628A06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179A8BC5-AAFA-4E6F-B675-3E0CC7E461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1DC0EC12-B52F-47E4-B851-CAFB05C57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E5DEA7B1-C866-4B5F-987C-4BD13F0963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C79B501A-0947-4E42-802D-3FC073C30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068696D0-F634-4F07-8C25-98443B168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A0097225-8B0D-4635-9EAB-53A208A5E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115303E8-FF11-4E31-AADF-59BD54396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BEBB0441-EBFD-493A-89C9-8B4BE5630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877F3517-B32B-4798-9296-2B3A6D3D99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33">
              <a:extLst>
                <a:ext uri="{FF2B5EF4-FFF2-40B4-BE49-F238E27FC236}">
                  <a16:creationId xmlns:a16="http://schemas.microsoft.com/office/drawing/2014/main" id="{9CCEBBA5-0C29-432F-AC88-73B6AC562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95ED506A-0449-4956-BEAE-905FE03E5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D21D942D-689E-46D7-B06C-0F01177DB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F0364329-0D4F-4712-82D5-116BFDB45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C32A3069-F39D-4530-9666-2BF2E82E7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AFD9032F-96EE-4AC3-B4C4-9334C00D9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9">
              <a:extLst>
                <a:ext uri="{FF2B5EF4-FFF2-40B4-BE49-F238E27FC236}">
                  <a16:creationId xmlns:a16="http://schemas.microsoft.com/office/drawing/2014/main" id="{54B7C097-76FE-4D48-A2FB-28AE3EE45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0">
              <a:extLst>
                <a:ext uri="{FF2B5EF4-FFF2-40B4-BE49-F238E27FC236}">
                  <a16:creationId xmlns:a16="http://schemas.microsoft.com/office/drawing/2014/main" id="{5C3EA8FD-5A91-4EF7-AC73-FB7D115A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51599BE3-9721-4E55-9AD8-F49E15DA8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2">
              <a:extLst>
                <a:ext uri="{FF2B5EF4-FFF2-40B4-BE49-F238E27FC236}">
                  <a16:creationId xmlns:a16="http://schemas.microsoft.com/office/drawing/2014/main" id="{B34CF688-7031-482E-9897-AB4B7BF5E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3">
              <a:extLst>
                <a:ext uri="{FF2B5EF4-FFF2-40B4-BE49-F238E27FC236}">
                  <a16:creationId xmlns:a16="http://schemas.microsoft.com/office/drawing/2014/main" id="{E9011520-9FE8-4C7F-B271-A06DB35AC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4">
              <a:extLst>
                <a:ext uri="{FF2B5EF4-FFF2-40B4-BE49-F238E27FC236}">
                  <a16:creationId xmlns:a16="http://schemas.microsoft.com/office/drawing/2014/main" id="{357A27C5-E3A1-4D83-82F6-6FAD21C51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45">
              <a:extLst>
                <a:ext uri="{FF2B5EF4-FFF2-40B4-BE49-F238E27FC236}">
                  <a16:creationId xmlns:a16="http://schemas.microsoft.com/office/drawing/2014/main" id="{71F4D3E9-B91C-45B3-B8A4-2C284D4EB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6">
              <a:extLst>
                <a:ext uri="{FF2B5EF4-FFF2-40B4-BE49-F238E27FC236}">
                  <a16:creationId xmlns:a16="http://schemas.microsoft.com/office/drawing/2014/main" id="{DED7151D-D6EF-4F03-87D0-7F963123B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47">
              <a:extLst>
                <a:ext uri="{FF2B5EF4-FFF2-40B4-BE49-F238E27FC236}">
                  <a16:creationId xmlns:a16="http://schemas.microsoft.com/office/drawing/2014/main" id="{6C5C83AF-D468-4B0A-B449-C360CE26D5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48">
              <a:extLst>
                <a:ext uri="{FF2B5EF4-FFF2-40B4-BE49-F238E27FC236}">
                  <a16:creationId xmlns:a16="http://schemas.microsoft.com/office/drawing/2014/main" id="{4A5B4139-C66D-47A2-8B30-11415F15E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49">
              <a:extLst>
                <a:ext uri="{FF2B5EF4-FFF2-40B4-BE49-F238E27FC236}">
                  <a16:creationId xmlns:a16="http://schemas.microsoft.com/office/drawing/2014/main" id="{48F3A424-087B-4825-8313-519981EEC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0">
              <a:extLst>
                <a:ext uri="{FF2B5EF4-FFF2-40B4-BE49-F238E27FC236}">
                  <a16:creationId xmlns:a16="http://schemas.microsoft.com/office/drawing/2014/main" id="{3E8E1C6A-5AD4-4EBD-9FA1-132108BC5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1">
              <a:extLst>
                <a:ext uri="{FF2B5EF4-FFF2-40B4-BE49-F238E27FC236}">
                  <a16:creationId xmlns:a16="http://schemas.microsoft.com/office/drawing/2014/main" id="{ACEDD2AF-0DB9-4C5C-850B-DFEBCB10C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0A114CDE-F1F7-437C-9C09-E4374D639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3">
              <a:extLst>
                <a:ext uri="{FF2B5EF4-FFF2-40B4-BE49-F238E27FC236}">
                  <a16:creationId xmlns:a16="http://schemas.microsoft.com/office/drawing/2014/main" id="{DC6A2F35-ED69-484A-9425-087C0943C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4">
              <a:extLst>
                <a:ext uri="{FF2B5EF4-FFF2-40B4-BE49-F238E27FC236}">
                  <a16:creationId xmlns:a16="http://schemas.microsoft.com/office/drawing/2014/main" id="{5C3FAF61-A529-497A-B8EB-54BB72E88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395A6577-B4C3-42FF-98D3-CA3AB4883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6">
              <a:extLst>
                <a:ext uri="{FF2B5EF4-FFF2-40B4-BE49-F238E27FC236}">
                  <a16:creationId xmlns:a16="http://schemas.microsoft.com/office/drawing/2014/main" id="{B4A6EF5E-0CBE-4A8C-A303-0AD653540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7">
              <a:extLst>
                <a:ext uri="{FF2B5EF4-FFF2-40B4-BE49-F238E27FC236}">
                  <a16:creationId xmlns:a16="http://schemas.microsoft.com/office/drawing/2014/main" id="{F6717E37-402B-4A63-88A6-E2F8C9728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158EE7FB-51AD-4A88-905A-45FF2BE78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6D0268-DAE4-BC69-71F0-1690AB50E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353" y="618518"/>
            <a:ext cx="4413736" cy="1478570"/>
          </a:xfrm>
        </p:spPr>
        <p:txBody>
          <a:bodyPr>
            <a:normAutofit/>
          </a:bodyPr>
          <a:lstStyle/>
          <a:p>
            <a:r>
              <a:rPr lang="en-US"/>
              <a:t>Project Data – XML &amp; JSON</a:t>
            </a:r>
            <a:endParaRPr lang="en-CA"/>
          </a:p>
        </p:txBody>
      </p:sp>
      <p:pic>
        <p:nvPicPr>
          <p:cNvPr id="7" name="Picture 6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B95DE311-7933-0BB2-25E3-D999F060D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00"/>
          <a:stretch>
            <a:fillRect/>
          </a:stretch>
        </p:blipFill>
        <p:spPr>
          <a:xfrm>
            <a:off x="-5597" y="1"/>
            <a:ext cx="6101597" cy="3427413"/>
          </a:xfrm>
          <a:custGeom>
            <a:avLst/>
            <a:gdLst/>
            <a:ahLst/>
            <a:cxnLst/>
            <a:rect l="l" t="t" r="r" b="b"/>
            <a:pathLst>
              <a:path w="6101597" h="3427413">
                <a:moveTo>
                  <a:pt x="0" y="0"/>
                </a:moveTo>
                <a:lnTo>
                  <a:pt x="6101597" y="0"/>
                </a:lnTo>
                <a:lnTo>
                  <a:pt x="6101597" y="3427413"/>
                </a:lnTo>
                <a:lnTo>
                  <a:pt x="0" y="3427413"/>
                </a:lnTo>
                <a:close/>
              </a:path>
            </a:pathLst>
          </a:cu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6A4518D-2361-F15B-3908-128351FA11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24" b="2"/>
          <a:stretch>
            <a:fillRect/>
          </a:stretch>
        </p:blipFill>
        <p:spPr>
          <a:xfrm>
            <a:off x="-5597" y="3427414"/>
            <a:ext cx="6101597" cy="3430587"/>
          </a:xfrm>
          <a:custGeom>
            <a:avLst/>
            <a:gdLst/>
            <a:ahLst/>
            <a:cxnLst/>
            <a:rect l="l" t="t" r="r" b="b"/>
            <a:pathLst>
              <a:path w="6101597" h="3430587">
                <a:moveTo>
                  <a:pt x="0" y="0"/>
                </a:moveTo>
                <a:lnTo>
                  <a:pt x="6101597" y="0"/>
                </a:lnTo>
                <a:lnTo>
                  <a:pt x="6101597" y="3430587"/>
                </a:lnTo>
                <a:lnTo>
                  <a:pt x="0" y="3430587"/>
                </a:ln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FDF4268-DA21-0554-4833-A35DD8B001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45352" y="2249487"/>
            <a:ext cx="4413737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000" b="1"/>
              <a:t>in-Progress Projects (XML)</a:t>
            </a:r>
            <a:endParaRPr lang="en-US" sz="1000"/>
          </a:p>
          <a:p>
            <a:pPr>
              <a:lnSpc>
                <a:spcPct val="110000"/>
              </a:lnSpc>
            </a:pPr>
            <a:r>
              <a:rPr lang="en-US" sz="1000"/>
              <a:t>Tracks active infrastructure projects across Canada</a:t>
            </a:r>
          </a:p>
          <a:p>
            <a:pPr>
              <a:lnSpc>
                <a:spcPct val="110000"/>
              </a:lnSpc>
            </a:pPr>
            <a:r>
              <a:rPr lang="en-US" sz="1000"/>
              <a:t>Structured using proper XML tags for clarity and consistency</a:t>
            </a:r>
          </a:p>
          <a:p>
            <a:pPr>
              <a:lnSpc>
                <a:spcPct val="110000"/>
              </a:lnSpc>
            </a:pPr>
            <a:r>
              <a:rPr lang="en-US" sz="1000"/>
              <a:t>Stores essential details: Project ID, Name, Status, Budget, Winning Bidder, Headquarters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000"/>
          </a:p>
          <a:p>
            <a:pPr>
              <a:lnSpc>
                <a:spcPct val="110000"/>
              </a:lnSpc>
            </a:pPr>
            <a:r>
              <a:rPr lang="en-US" sz="1000" b="1"/>
              <a:t>Planned Projects (JSON)</a:t>
            </a:r>
            <a:endParaRPr lang="en-US" sz="1000"/>
          </a:p>
          <a:p>
            <a:pPr>
              <a:lnSpc>
                <a:spcPct val="110000"/>
              </a:lnSpc>
            </a:pPr>
            <a:r>
              <a:rPr lang="en-US" sz="1000"/>
              <a:t>Contains upcoming projects in the planning stage</a:t>
            </a:r>
          </a:p>
          <a:p>
            <a:pPr>
              <a:lnSpc>
                <a:spcPct val="110000"/>
              </a:lnSpc>
            </a:pPr>
            <a:r>
              <a:rPr lang="en-US" sz="1000"/>
              <a:t>Organized as a clean JSON array for easy integration with web or database systems</a:t>
            </a:r>
          </a:p>
          <a:p>
            <a:pPr>
              <a:lnSpc>
                <a:spcPct val="110000"/>
              </a:lnSpc>
            </a:pPr>
            <a:r>
              <a:rPr lang="en-US" sz="1000"/>
              <a:t>Each project includes: Project ID, Name, Status, Budget, Winning Bidder, Headquarters</a:t>
            </a:r>
          </a:p>
          <a:p>
            <a:pPr>
              <a:lnSpc>
                <a:spcPct val="110000"/>
              </a:lnSpc>
            </a:pPr>
            <a:r>
              <a:rPr lang="en-US" sz="1000" b="1"/>
              <a:t>Slide Visual Idea</a:t>
            </a:r>
            <a:endParaRPr lang="en-US" sz="100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3645D35-E797-4482-A1FD-29D21AEAC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3354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C7BA197-BE1E-4B2B-B2BC-7A9A095AE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6101597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78210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A7D6E840-9DD4-473E-ABC8-0FC9062F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84" name="Rectangle 83">
              <a:extLst>
                <a:ext uri="{FF2B5EF4-FFF2-40B4-BE49-F238E27FC236}">
                  <a16:creationId xmlns:a16="http://schemas.microsoft.com/office/drawing/2014/main" id="{02950B47-A4A4-40A4-BA35-D2459B5AE0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5" name="Picture 2">
              <a:extLst>
                <a:ext uri="{FF2B5EF4-FFF2-40B4-BE49-F238E27FC236}">
                  <a16:creationId xmlns:a16="http://schemas.microsoft.com/office/drawing/2014/main" id="{3DFEB33D-BD06-44EF-A9E8-DAB1E3F1C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F9514F9-0FC6-47CE-9741-227EF8E36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133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88" name="Rectangle 5">
              <a:extLst>
                <a:ext uri="{FF2B5EF4-FFF2-40B4-BE49-F238E27FC236}">
                  <a16:creationId xmlns:a16="http://schemas.microsoft.com/office/drawing/2014/main" id="{DEA9E922-4B56-4398-8F49-18BB2FF19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6">
              <a:extLst>
                <a:ext uri="{FF2B5EF4-FFF2-40B4-BE49-F238E27FC236}">
                  <a16:creationId xmlns:a16="http://schemas.microsoft.com/office/drawing/2014/main" id="{7B7E94F6-7C72-4170-B7C8-B18165607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7">
              <a:extLst>
                <a:ext uri="{FF2B5EF4-FFF2-40B4-BE49-F238E27FC236}">
                  <a16:creationId xmlns:a16="http://schemas.microsoft.com/office/drawing/2014/main" id="{1D7E1780-5D15-4A89-A802-0BC222EB00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Rectangle 8">
              <a:extLst>
                <a:ext uri="{FF2B5EF4-FFF2-40B4-BE49-F238E27FC236}">
                  <a16:creationId xmlns:a16="http://schemas.microsoft.com/office/drawing/2014/main" id="{DFF82D39-403D-4749-B519-F20431BE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">
              <a:extLst>
                <a:ext uri="{FF2B5EF4-FFF2-40B4-BE49-F238E27FC236}">
                  <a16:creationId xmlns:a16="http://schemas.microsoft.com/office/drawing/2014/main" id="{3B4AD3D7-29AD-4887-9422-E6FB71E41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0">
              <a:extLst>
                <a:ext uri="{FF2B5EF4-FFF2-40B4-BE49-F238E27FC236}">
                  <a16:creationId xmlns:a16="http://schemas.microsoft.com/office/drawing/2014/main" id="{7C219CF0-C7E9-460C-B243-95F00D043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1">
              <a:extLst>
                <a:ext uri="{FF2B5EF4-FFF2-40B4-BE49-F238E27FC236}">
                  <a16:creationId xmlns:a16="http://schemas.microsoft.com/office/drawing/2014/main" id="{F2B36BC7-A8D7-4170-A4C2-5D5FB5703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2">
              <a:extLst>
                <a:ext uri="{FF2B5EF4-FFF2-40B4-BE49-F238E27FC236}">
                  <a16:creationId xmlns:a16="http://schemas.microsoft.com/office/drawing/2014/main" id="{693BE217-57A9-410A-8C6E-DD49C9542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3">
              <a:extLst>
                <a:ext uri="{FF2B5EF4-FFF2-40B4-BE49-F238E27FC236}">
                  <a16:creationId xmlns:a16="http://schemas.microsoft.com/office/drawing/2014/main" id="{E137D9FE-3450-4F53-AB48-B83574DEB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4">
              <a:extLst>
                <a:ext uri="{FF2B5EF4-FFF2-40B4-BE49-F238E27FC236}">
                  <a16:creationId xmlns:a16="http://schemas.microsoft.com/office/drawing/2014/main" id="{2CBA01D9-742E-437F-B4A4-F21067DB3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5">
              <a:extLst>
                <a:ext uri="{FF2B5EF4-FFF2-40B4-BE49-F238E27FC236}">
                  <a16:creationId xmlns:a16="http://schemas.microsoft.com/office/drawing/2014/main" id="{CF7E3F29-AF56-4664-899B-EAAB5BEB1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134A0AFD-4F49-418F-89C2-2BF954837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7">
              <a:extLst>
                <a:ext uri="{FF2B5EF4-FFF2-40B4-BE49-F238E27FC236}">
                  <a16:creationId xmlns:a16="http://schemas.microsoft.com/office/drawing/2014/main" id="{491FBEA5-6E19-4D74-AF8F-7801D642FD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8">
              <a:extLst>
                <a:ext uri="{FF2B5EF4-FFF2-40B4-BE49-F238E27FC236}">
                  <a16:creationId xmlns:a16="http://schemas.microsoft.com/office/drawing/2014/main" id="{F6FE013A-FBF0-4582-8BF5-C66A87656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9">
              <a:extLst>
                <a:ext uri="{FF2B5EF4-FFF2-40B4-BE49-F238E27FC236}">
                  <a16:creationId xmlns:a16="http://schemas.microsoft.com/office/drawing/2014/main" id="{2A8BBFC9-C135-43D6-B658-BEAFBCB68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0">
              <a:extLst>
                <a:ext uri="{FF2B5EF4-FFF2-40B4-BE49-F238E27FC236}">
                  <a16:creationId xmlns:a16="http://schemas.microsoft.com/office/drawing/2014/main" id="{0A91FF15-5B35-4788-9504-75DAF162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1">
              <a:extLst>
                <a:ext uri="{FF2B5EF4-FFF2-40B4-BE49-F238E27FC236}">
                  <a16:creationId xmlns:a16="http://schemas.microsoft.com/office/drawing/2014/main" id="{AF45E1F0-943D-45E4-B027-8E5DD5294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2">
              <a:extLst>
                <a:ext uri="{FF2B5EF4-FFF2-40B4-BE49-F238E27FC236}">
                  <a16:creationId xmlns:a16="http://schemas.microsoft.com/office/drawing/2014/main" id="{1B4E3D75-576B-4EAB-8767-A2692E89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3">
              <a:extLst>
                <a:ext uri="{FF2B5EF4-FFF2-40B4-BE49-F238E27FC236}">
                  <a16:creationId xmlns:a16="http://schemas.microsoft.com/office/drawing/2014/main" id="{B77D6359-FA3A-41C5-B675-EA271B446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4">
              <a:extLst>
                <a:ext uri="{FF2B5EF4-FFF2-40B4-BE49-F238E27FC236}">
                  <a16:creationId xmlns:a16="http://schemas.microsoft.com/office/drawing/2014/main" id="{CAF12B18-E453-4F78-AA7A-C916EF28C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5">
              <a:extLst>
                <a:ext uri="{FF2B5EF4-FFF2-40B4-BE49-F238E27FC236}">
                  <a16:creationId xmlns:a16="http://schemas.microsoft.com/office/drawing/2014/main" id="{2725FE37-E40E-466C-AB50-E43BA6A8A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6">
              <a:extLst>
                <a:ext uri="{FF2B5EF4-FFF2-40B4-BE49-F238E27FC236}">
                  <a16:creationId xmlns:a16="http://schemas.microsoft.com/office/drawing/2014/main" id="{E5933B83-B4CE-4221-8A92-78505DDC5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27">
              <a:extLst>
                <a:ext uri="{FF2B5EF4-FFF2-40B4-BE49-F238E27FC236}">
                  <a16:creationId xmlns:a16="http://schemas.microsoft.com/office/drawing/2014/main" id="{7F1913FF-9BDF-492A-B105-671924AFF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28">
              <a:extLst>
                <a:ext uri="{FF2B5EF4-FFF2-40B4-BE49-F238E27FC236}">
                  <a16:creationId xmlns:a16="http://schemas.microsoft.com/office/drawing/2014/main" id="{1D8A5F7C-24DE-4B2E-8B11-122C12CDB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29">
              <a:extLst>
                <a:ext uri="{FF2B5EF4-FFF2-40B4-BE49-F238E27FC236}">
                  <a16:creationId xmlns:a16="http://schemas.microsoft.com/office/drawing/2014/main" id="{43C17D4F-4386-40CF-B9D8-A764322BA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30">
              <a:extLst>
                <a:ext uri="{FF2B5EF4-FFF2-40B4-BE49-F238E27FC236}">
                  <a16:creationId xmlns:a16="http://schemas.microsoft.com/office/drawing/2014/main" id="{46E23045-B4B9-4F64-93B3-06FD53532C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31">
              <a:extLst>
                <a:ext uri="{FF2B5EF4-FFF2-40B4-BE49-F238E27FC236}">
                  <a16:creationId xmlns:a16="http://schemas.microsoft.com/office/drawing/2014/main" id="{70B9CF12-49FA-4704-82F6-923EA779A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32">
              <a:extLst>
                <a:ext uri="{FF2B5EF4-FFF2-40B4-BE49-F238E27FC236}">
                  <a16:creationId xmlns:a16="http://schemas.microsoft.com/office/drawing/2014/main" id="{1F7A28B8-D9CE-4A32-8044-FC6A9D334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Rectangle 33">
              <a:extLst>
                <a:ext uri="{FF2B5EF4-FFF2-40B4-BE49-F238E27FC236}">
                  <a16:creationId xmlns:a16="http://schemas.microsoft.com/office/drawing/2014/main" id="{67FEC850-B79F-4E1E-934C-6AEE78126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34">
              <a:extLst>
                <a:ext uri="{FF2B5EF4-FFF2-40B4-BE49-F238E27FC236}">
                  <a16:creationId xmlns:a16="http://schemas.microsoft.com/office/drawing/2014/main" id="{0CFEFBE7-0E21-4207-897E-4D528A8F56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35">
              <a:extLst>
                <a:ext uri="{FF2B5EF4-FFF2-40B4-BE49-F238E27FC236}">
                  <a16:creationId xmlns:a16="http://schemas.microsoft.com/office/drawing/2014/main" id="{1AEAF58F-D575-41BD-A835-BB010E877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36">
              <a:extLst>
                <a:ext uri="{FF2B5EF4-FFF2-40B4-BE49-F238E27FC236}">
                  <a16:creationId xmlns:a16="http://schemas.microsoft.com/office/drawing/2014/main" id="{E27AA05B-2BE2-4010-94CB-F460AE19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37">
              <a:extLst>
                <a:ext uri="{FF2B5EF4-FFF2-40B4-BE49-F238E27FC236}">
                  <a16:creationId xmlns:a16="http://schemas.microsoft.com/office/drawing/2014/main" id="{70D33247-6EF5-41BC-B07F-053CB910ED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38">
              <a:extLst>
                <a:ext uri="{FF2B5EF4-FFF2-40B4-BE49-F238E27FC236}">
                  <a16:creationId xmlns:a16="http://schemas.microsoft.com/office/drawing/2014/main" id="{5CDEB4E4-0063-4713-B2C6-36FBC09EC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39">
              <a:extLst>
                <a:ext uri="{FF2B5EF4-FFF2-40B4-BE49-F238E27FC236}">
                  <a16:creationId xmlns:a16="http://schemas.microsoft.com/office/drawing/2014/main" id="{F3B12534-789B-48AC-9A55-424738970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40">
              <a:extLst>
                <a:ext uri="{FF2B5EF4-FFF2-40B4-BE49-F238E27FC236}">
                  <a16:creationId xmlns:a16="http://schemas.microsoft.com/office/drawing/2014/main" id="{78A290B1-8C9B-4E8B-B1B2-C722EE14C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41">
              <a:extLst>
                <a:ext uri="{FF2B5EF4-FFF2-40B4-BE49-F238E27FC236}">
                  <a16:creationId xmlns:a16="http://schemas.microsoft.com/office/drawing/2014/main" id="{06DDBC85-105E-462C-865B-153ED0CC65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42">
              <a:extLst>
                <a:ext uri="{FF2B5EF4-FFF2-40B4-BE49-F238E27FC236}">
                  <a16:creationId xmlns:a16="http://schemas.microsoft.com/office/drawing/2014/main" id="{78BB07D4-4655-424B-AB60-04F4B3809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43">
              <a:extLst>
                <a:ext uri="{FF2B5EF4-FFF2-40B4-BE49-F238E27FC236}">
                  <a16:creationId xmlns:a16="http://schemas.microsoft.com/office/drawing/2014/main" id="{544A865C-ED01-4680-9EF0-80FBD92900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44">
              <a:extLst>
                <a:ext uri="{FF2B5EF4-FFF2-40B4-BE49-F238E27FC236}">
                  <a16:creationId xmlns:a16="http://schemas.microsoft.com/office/drawing/2014/main" id="{D9A8E789-DB73-4EA0-9D0F-A080CC6B7D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Rectangle 45">
              <a:extLst>
                <a:ext uri="{FF2B5EF4-FFF2-40B4-BE49-F238E27FC236}">
                  <a16:creationId xmlns:a16="http://schemas.microsoft.com/office/drawing/2014/main" id="{68D3F12B-BCAA-49B7-BA81-C7AF1CC0E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46">
              <a:extLst>
                <a:ext uri="{FF2B5EF4-FFF2-40B4-BE49-F238E27FC236}">
                  <a16:creationId xmlns:a16="http://schemas.microsoft.com/office/drawing/2014/main" id="{A5165251-F749-432F-ABA8-F606E5934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47">
              <a:extLst>
                <a:ext uri="{FF2B5EF4-FFF2-40B4-BE49-F238E27FC236}">
                  <a16:creationId xmlns:a16="http://schemas.microsoft.com/office/drawing/2014/main" id="{99451206-BB2D-4D57-9B5A-DA9543D1E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48">
              <a:extLst>
                <a:ext uri="{FF2B5EF4-FFF2-40B4-BE49-F238E27FC236}">
                  <a16:creationId xmlns:a16="http://schemas.microsoft.com/office/drawing/2014/main" id="{F1388985-19D4-40A0-A1D3-029B76DB5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49">
              <a:extLst>
                <a:ext uri="{FF2B5EF4-FFF2-40B4-BE49-F238E27FC236}">
                  <a16:creationId xmlns:a16="http://schemas.microsoft.com/office/drawing/2014/main" id="{4262B374-8CC2-44EB-97BB-1E0AEB23A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50">
              <a:extLst>
                <a:ext uri="{FF2B5EF4-FFF2-40B4-BE49-F238E27FC236}">
                  <a16:creationId xmlns:a16="http://schemas.microsoft.com/office/drawing/2014/main" id="{7C06B794-15FA-4731-B9F0-8C20E392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51">
              <a:extLst>
                <a:ext uri="{FF2B5EF4-FFF2-40B4-BE49-F238E27FC236}">
                  <a16:creationId xmlns:a16="http://schemas.microsoft.com/office/drawing/2014/main" id="{9E033CE7-9D67-4BC6-BDBB-156CA2906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52">
              <a:extLst>
                <a:ext uri="{FF2B5EF4-FFF2-40B4-BE49-F238E27FC236}">
                  <a16:creationId xmlns:a16="http://schemas.microsoft.com/office/drawing/2014/main" id="{BDF8F2E8-AABE-4D38-BB58-DE250459D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53">
              <a:extLst>
                <a:ext uri="{FF2B5EF4-FFF2-40B4-BE49-F238E27FC236}">
                  <a16:creationId xmlns:a16="http://schemas.microsoft.com/office/drawing/2014/main" id="{E10765A4-B591-4CD7-B4E8-64DC644A6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54">
              <a:extLst>
                <a:ext uri="{FF2B5EF4-FFF2-40B4-BE49-F238E27FC236}">
                  <a16:creationId xmlns:a16="http://schemas.microsoft.com/office/drawing/2014/main" id="{8BF76C5A-5FA8-45A7-A243-77D377613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55">
              <a:extLst>
                <a:ext uri="{FF2B5EF4-FFF2-40B4-BE49-F238E27FC236}">
                  <a16:creationId xmlns:a16="http://schemas.microsoft.com/office/drawing/2014/main" id="{039E6322-3F90-4FE5-83C6-5EA6C592E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56">
              <a:extLst>
                <a:ext uri="{FF2B5EF4-FFF2-40B4-BE49-F238E27FC236}">
                  <a16:creationId xmlns:a16="http://schemas.microsoft.com/office/drawing/2014/main" id="{E69A9E94-9988-4F90-BFF7-39CAE99F5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57">
              <a:extLst>
                <a:ext uri="{FF2B5EF4-FFF2-40B4-BE49-F238E27FC236}">
                  <a16:creationId xmlns:a16="http://schemas.microsoft.com/office/drawing/2014/main" id="{75B8334A-3C81-4C53-858D-92D5295A8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58">
              <a:extLst>
                <a:ext uri="{FF2B5EF4-FFF2-40B4-BE49-F238E27FC236}">
                  <a16:creationId xmlns:a16="http://schemas.microsoft.com/office/drawing/2014/main" id="{9EB00862-AA34-4A06-8EF3-8EE78060A6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F22329-4170-B344-C82A-27D0FE5B8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1781" y="618518"/>
            <a:ext cx="2948240" cy="1478570"/>
          </a:xfrm>
        </p:spPr>
        <p:txBody>
          <a:bodyPr>
            <a:normAutofit/>
          </a:bodyPr>
          <a:lstStyle/>
          <a:p>
            <a:r>
              <a:rPr lang="en-US" sz="3200"/>
              <a:t>Proof of Concept Webpage</a:t>
            </a:r>
            <a:endParaRPr lang="en-CA" sz="320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49568E-7EAF-4A17-4234-E5BA0162F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" r="8597" b="-2"/>
          <a:stretch>
            <a:fillRect/>
          </a:stretch>
        </p:blipFill>
        <p:spPr>
          <a:xfrm>
            <a:off x="-5596" y="2"/>
            <a:ext cx="7485018" cy="3394074"/>
          </a:xfrm>
          <a:custGeom>
            <a:avLst/>
            <a:gdLst/>
            <a:ahLst/>
            <a:cxnLst/>
            <a:rect l="l" t="t" r="r" b="b"/>
            <a:pathLst>
              <a:path w="7558541" h="3427413">
                <a:moveTo>
                  <a:pt x="0" y="0"/>
                </a:moveTo>
                <a:lnTo>
                  <a:pt x="7558541" y="0"/>
                </a:lnTo>
                <a:lnTo>
                  <a:pt x="7558541" y="3427413"/>
                </a:lnTo>
                <a:lnTo>
                  <a:pt x="0" y="3427413"/>
                </a:lnTo>
                <a:close/>
              </a:path>
            </a:pathLst>
          </a:cu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5012EC-1FB9-DB98-8E08-74501028D5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03" r="-2" b="8041"/>
          <a:stretch>
            <a:fillRect/>
          </a:stretch>
        </p:blipFill>
        <p:spPr>
          <a:xfrm>
            <a:off x="-5597" y="3427414"/>
            <a:ext cx="7558541" cy="3430587"/>
          </a:xfrm>
          <a:custGeom>
            <a:avLst/>
            <a:gdLst/>
            <a:ahLst/>
            <a:cxnLst/>
            <a:rect l="l" t="t" r="r" b="b"/>
            <a:pathLst>
              <a:path w="7558541" h="3430587">
                <a:moveTo>
                  <a:pt x="0" y="0"/>
                </a:moveTo>
                <a:lnTo>
                  <a:pt x="7558541" y="0"/>
                </a:lnTo>
                <a:lnTo>
                  <a:pt x="7558541" y="3430587"/>
                </a:lnTo>
                <a:lnTo>
                  <a:pt x="0" y="3430587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35651-608C-5BBE-061E-19CE3CE91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1781" y="2249487"/>
            <a:ext cx="2948240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b="1"/>
              <a:t>Home Page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/>
              <a:t>About Us Page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/>
              <a:t>Projects Page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Dynamically displays project data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Data fetched live from GitHub for demonstration</a:t>
            </a:r>
          </a:p>
          <a:p>
            <a:pPr>
              <a:lnSpc>
                <a:spcPct val="110000"/>
              </a:lnSpc>
            </a:pPr>
            <a:r>
              <a:rPr lang="en-US" sz="1700" b="1"/>
              <a:t>Contact Us Page</a:t>
            </a:r>
            <a:endParaRPr lang="en-US" sz="1700"/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 </a:t>
            </a:r>
            <a:endParaRPr lang="en-CA" sz="170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6B69E10-B78A-42BA-903C-86D9965C4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55895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EC9FA34-3CEC-42B1-8AEA-F261C70C0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7558541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72145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A870-DD96-31B7-4467-158761EC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Our Proposed Solution</a:t>
            </a:r>
            <a:endParaRPr lang="en-CA" sz="400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BDDB54D-A544-A5D9-4813-AF0C8C1A6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Improve the tracking and management of national infrastructure projects in Canada</a:t>
            </a:r>
          </a:p>
          <a:p>
            <a:r>
              <a:rPr lang="en-US" sz="2000"/>
              <a:t>Replace disconnected spreadsheets with a centralized, reliable system</a:t>
            </a:r>
          </a:p>
          <a:p>
            <a:r>
              <a:rPr lang="en-US" sz="2000"/>
              <a:t>Supports decision-making, budgeting, and project oversight</a:t>
            </a:r>
          </a:p>
          <a:p>
            <a:r>
              <a:rPr lang="en-US" sz="2000"/>
              <a:t>Accessible Data</a:t>
            </a:r>
          </a:p>
          <a:p>
            <a:pPr marL="0" indent="0">
              <a:buNone/>
            </a:pPr>
            <a:endParaRPr lang="en-US" sz="2000"/>
          </a:p>
          <a:p>
            <a:endParaRPr lang="en-CA" sz="2000"/>
          </a:p>
          <a:p>
            <a:endParaRPr lang="en-CA" sz="2000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4303D828-EAB5-2CC6-EEF5-EBCB1A1E8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47" r="28952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78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005B-7500-71F0-5B5F-5D5531D77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591" y="158443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dirty="0"/>
              <a:t>Project Final Impact</a:t>
            </a:r>
            <a:endParaRPr lang="en-CA" sz="4000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59DC5A0E-CD49-DA63-1AEE-715E23A3FA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173740"/>
              </p:ext>
            </p:extLst>
          </p:nvPr>
        </p:nvGraphicFramePr>
        <p:xfrm>
          <a:off x="838200" y="2877909"/>
          <a:ext cx="11538672" cy="2246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0585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89D1-EEDA-C1AD-942D-6FE80B0F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6103-A781-04F0-C1A4-D2C0C984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7666" y="3429000"/>
            <a:ext cx="7736945" cy="248222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CA" sz="6000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107063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324</TotalTime>
  <Words>389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Amasis MT Pro Black</vt:lpstr>
      <vt:lpstr>Arial</vt:lpstr>
      <vt:lpstr>Tw Cen MT</vt:lpstr>
      <vt:lpstr>Circuit</vt:lpstr>
      <vt:lpstr>National Infrastructure Database-Modernized</vt:lpstr>
      <vt:lpstr>Our project Goals </vt:lpstr>
      <vt:lpstr>The Problem</vt:lpstr>
      <vt:lpstr>Why Centralization Matters</vt:lpstr>
      <vt:lpstr>Database Structure Breakdown</vt:lpstr>
      <vt:lpstr>ERD Overview</vt:lpstr>
      <vt:lpstr>SQL Demo: Key Queries</vt:lpstr>
      <vt:lpstr>Project Data – XML &amp; JSON</vt:lpstr>
      <vt:lpstr>Proof of Concept Webpage</vt:lpstr>
      <vt:lpstr>Our Proposed Solution</vt:lpstr>
      <vt:lpstr>Project Final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Duru Elli</dc:creator>
  <cp:lastModifiedBy>Aishat Mohammed</cp:lastModifiedBy>
  <cp:revision>6</cp:revision>
  <dcterms:created xsi:type="dcterms:W3CDTF">2025-12-04T18:18:08Z</dcterms:created>
  <dcterms:modified xsi:type="dcterms:W3CDTF">2025-12-07T02:30:04Z</dcterms:modified>
</cp:coreProperties>
</file>