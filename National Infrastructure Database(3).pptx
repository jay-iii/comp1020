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7" r:id="rId1"/>
  </p:sldMasterIdLst>
  <p:sldIdLst>
    <p:sldId id="256" r:id="rId2"/>
    <p:sldId id="268" r:id="rId3"/>
    <p:sldId id="257" r:id="rId4"/>
    <p:sldId id="258" r:id="rId5"/>
    <p:sldId id="261" r:id="rId6"/>
    <p:sldId id="260" r:id="rId7"/>
    <p:sldId id="262" r:id="rId8"/>
    <p:sldId id="264" r:id="rId9"/>
    <p:sldId id="265" r:id="rId10"/>
    <p:sldId id="259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36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0864DAB-9D80-4456-93AF-A44D8B5A5831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2451851-DB61-4A5F-BE6C-9BDDA47658A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b="0" i="0" baseline="0" dirty="0"/>
            <a:t>Makes project progress, budgets, and contractors visible at a glance</a:t>
          </a:r>
          <a:endParaRPr lang="en-US" sz="1800" dirty="0"/>
        </a:p>
      </dgm:t>
    </dgm:pt>
    <dgm:pt modelId="{CEC83F40-FF7C-4FA1-97AC-B69C0A335302}" type="parTrans" cxnId="{67ACFD9B-36F7-495A-8B8F-38CF8C36A667}">
      <dgm:prSet/>
      <dgm:spPr/>
      <dgm:t>
        <a:bodyPr/>
        <a:lstStyle/>
        <a:p>
          <a:endParaRPr lang="en-US"/>
        </a:p>
      </dgm:t>
    </dgm:pt>
    <dgm:pt modelId="{8C9A1CEA-2618-4670-BAFE-33FF4E6E9B59}" type="sibTrans" cxnId="{67ACFD9B-36F7-495A-8B8F-38CF8C36A66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BAC2F02-5855-4C7A-9112-772362232F3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b="0" i="0" baseline="0" dirty="0"/>
            <a:t>Helps ICC spot delays, risks, and cost issues quickly</a:t>
          </a:r>
          <a:endParaRPr lang="en-US" sz="1800" dirty="0"/>
        </a:p>
      </dgm:t>
    </dgm:pt>
    <dgm:pt modelId="{6536FF37-F939-43DA-9B5E-16496698DE69}" type="parTrans" cxnId="{7A356E6C-C523-48A5-B9B6-40642B6E0338}">
      <dgm:prSet/>
      <dgm:spPr/>
      <dgm:t>
        <a:bodyPr/>
        <a:lstStyle/>
        <a:p>
          <a:endParaRPr lang="en-US"/>
        </a:p>
      </dgm:t>
    </dgm:pt>
    <dgm:pt modelId="{0637DA32-333A-4C18-A2ED-D1D8CFEDC589}" type="sibTrans" cxnId="{7A356E6C-C523-48A5-B9B6-40642B6E033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6F4C435-B430-46A9-86E1-BCD34F19780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b="0" i="0" baseline="0" dirty="0"/>
            <a:t>Demonstrates real-world use of XML, JSON, and database integration</a:t>
          </a:r>
          <a:endParaRPr lang="en-US" sz="1800" dirty="0"/>
        </a:p>
      </dgm:t>
    </dgm:pt>
    <dgm:pt modelId="{D69535D2-CF61-4796-A81F-91DD3B67E486}" type="parTrans" cxnId="{64CF1A68-172A-423C-8A2E-830C8223AC5F}">
      <dgm:prSet/>
      <dgm:spPr/>
      <dgm:t>
        <a:bodyPr/>
        <a:lstStyle/>
        <a:p>
          <a:endParaRPr lang="en-US"/>
        </a:p>
      </dgm:t>
    </dgm:pt>
    <dgm:pt modelId="{DDD8095D-BA8F-4F7F-A8AA-3665E9E1A39A}" type="sibTrans" cxnId="{64CF1A68-172A-423C-8A2E-830C8223AC5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4EA1424-2E95-4DF6-9E47-783B94A61C4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b="0" i="0" baseline="0" dirty="0"/>
            <a:t>Brings all project information together in a single, reliable system</a:t>
          </a:r>
          <a:endParaRPr lang="en-US" sz="1800" dirty="0"/>
        </a:p>
      </dgm:t>
    </dgm:pt>
    <dgm:pt modelId="{674A7441-2A33-4086-B77F-0DD86EB6E882}" type="parTrans" cxnId="{1B89158B-E5FC-4BEA-9DE7-8ABAC66352FA}">
      <dgm:prSet/>
      <dgm:spPr/>
      <dgm:t>
        <a:bodyPr/>
        <a:lstStyle/>
        <a:p>
          <a:endParaRPr lang="en-US"/>
        </a:p>
      </dgm:t>
    </dgm:pt>
    <dgm:pt modelId="{61D74366-754D-481F-BAE1-A16D4393822E}" type="sibTrans" cxnId="{1B89158B-E5FC-4BEA-9DE7-8ABAC66352F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5FE99A4-1B4E-47E3-84F5-AD393A7E7F4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b="0" i="0" baseline="0" dirty="0"/>
            <a:t>Provides an interactive website to view and manage projects efficiently</a:t>
          </a:r>
          <a:endParaRPr lang="en-US" sz="1800" dirty="0"/>
        </a:p>
      </dgm:t>
    </dgm:pt>
    <dgm:pt modelId="{B41384F6-AD33-408F-8010-74EAADC67AF2}" type="parTrans" cxnId="{0889AC7A-DD89-4624-93E2-1A275F23B41A}">
      <dgm:prSet/>
      <dgm:spPr/>
      <dgm:t>
        <a:bodyPr/>
        <a:lstStyle/>
        <a:p>
          <a:endParaRPr lang="en-US"/>
        </a:p>
      </dgm:t>
    </dgm:pt>
    <dgm:pt modelId="{6E507AB3-9D1C-4129-B814-699F8FBC4B05}" type="sibTrans" cxnId="{0889AC7A-DD89-4624-93E2-1A275F23B41A}">
      <dgm:prSet/>
      <dgm:spPr/>
      <dgm:t>
        <a:bodyPr/>
        <a:lstStyle/>
        <a:p>
          <a:endParaRPr lang="en-US"/>
        </a:p>
      </dgm:t>
    </dgm:pt>
    <dgm:pt modelId="{769298A1-929B-4253-BA7D-6D3880C3134D}" type="pres">
      <dgm:prSet presAssocID="{D0864DAB-9D80-4456-93AF-A44D8B5A5831}" presName="root" presStyleCnt="0">
        <dgm:presLayoutVars>
          <dgm:dir/>
          <dgm:resizeHandles val="exact"/>
        </dgm:presLayoutVars>
      </dgm:prSet>
      <dgm:spPr/>
    </dgm:pt>
    <dgm:pt modelId="{72B3D348-B773-4C25-A0D0-6EEB5FFC16E0}" type="pres">
      <dgm:prSet presAssocID="{D0864DAB-9D80-4456-93AF-A44D8B5A5831}" presName="container" presStyleCnt="0">
        <dgm:presLayoutVars>
          <dgm:dir/>
          <dgm:resizeHandles val="exact"/>
        </dgm:presLayoutVars>
      </dgm:prSet>
      <dgm:spPr/>
    </dgm:pt>
    <dgm:pt modelId="{1A96E4D6-C013-4129-AC7A-7812D8803F01}" type="pres">
      <dgm:prSet presAssocID="{F2451851-DB61-4A5F-BE6C-9BDDA47658A8}" presName="compNode" presStyleCnt="0"/>
      <dgm:spPr/>
    </dgm:pt>
    <dgm:pt modelId="{8F08A73C-330E-4BE7-9BDE-0A1C62EA210C}" type="pres">
      <dgm:prSet presAssocID="{F2451851-DB61-4A5F-BE6C-9BDDA47658A8}" presName="iconBgRect" presStyleLbl="bgShp" presStyleIdx="0" presStyleCnt="5"/>
      <dgm:spPr/>
    </dgm:pt>
    <dgm:pt modelId="{C38E9A53-F0E7-46F6-97AE-7F2B122A70D7}" type="pres">
      <dgm:prSet presAssocID="{F2451851-DB61-4A5F-BE6C-9BDDA47658A8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eeting"/>
        </a:ext>
      </dgm:extLst>
    </dgm:pt>
    <dgm:pt modelId="{C467F787-E3C3-4661-911B-22A8232785D4}" type="pres">
      <dgm:prSet presAssocID="{F2451851-DB61-4A5F-BE6C-9BDDA47658A8}" presName="spaceRect" presStyleCnt="0"/>
      <dgm:spPr/>
    </dgm:pt>
    <dgm:pt modelId="{6025D9F6-4810-45A8-A80F-B7E59ACD21EB}" type="pres">
      <dgm:prSet presAssocID="{F2451851-DB61-4A5F-BE6C-9BDDA47658A8}" presName="textRect" presStyleLbl="revTx" presStyleIdx="0" presStyleCnt="5" custScaleX="96072" custScaleY="99058">
        <dgm:presLayoutVars>
          <dgm:chMax val="1"/>
          <dgm:chPref val="1"/>
        </dgm:presLayoutVars>
      </dgm:prSet>
      <dgm:spPr/>
    </dgm:pt>
    <dgm:pt modelId="{52AA11DC-780C-4C0A-BECB-ED464B6656AF}" type="pres">
      <dgm:prSet presAssocID="{8C9A1CEA-2618-4670-BAFE-33FF4E6E9B59}" presName="sibTrans" presStyleLbl="sibTrans2D1" presStyleIdx="0" presStyleCnt="0"/>
      <dgm:spPr/>
    </dgm:pt>
    <dgm:pt modelId="{D7B249B0-9FF8-4B64-8384-DC907793EBB7}" type="pres">
      <dgm:prSet presAssocID="{ABAC2F02-5855-4C7A-9112-772362232F32}" presName="compNode" presStyleCnt="0"/>
      <dgm:spPr/>
    </dgm:pt>
    <dgm:pt modelId="{A6F61F62-B99E-4CA1-843E-8C042B7EEF4F}" type="pres">
      <dgm:prSet presAssocID="{ABAC2F02-5855-4C7A-9112-772362232F32}" presName="iconBgRect" presStyleLbl="bgShp" presStyleIdx="1" presStyleCnt="5"/>
      <dgm:spPr/>
    </dgm:pt>
    <dgm:pt modelId="{CC27B516-01BA-461B-AA92-18970BA15BBA}" type="pres">
      <dgm:prSet presAssocID="{ABAC2F02-5855-4C7A-9112-772362232F32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A434D030-6811-46E2-BC75-93E84281EDF0}" type="pres">
      <dgm:prSet presAssocID="{ABAC2F02-5855-4C7A-9112-772362232F32}" presName="spaceRect" presStyleCnt="0"/>
      <dgm:spPr/>
    </dgm:pt>
    <dgm:pt modelId="{BC6B2B67-6B11-46FB-818E-A5A50B37FDC5}" type="pres">
      <dgm:prSet presAssocID="{ABAC2F02-5855-4C7A-9112-772362232F32}" presName="textRect" presStyleLbl="revTx" presStyleIdx="1" presStyleCnt="5">
        <dgm:presLayoutVars>
          <dgm:chMax val="1"/>
          <dgm:chPref val="1"/>
        </dgm:presLayoutVars>
      </dgm:prSet>
      <dgm:spPr/>
    </dgm:pt>
    <dgm:pt modelId="{1F795DB6-5A8B-4B91-BB0A-BAB4BC221024}" type="pres">
      <dgm:prSet presAssocID="{0637DA32-333A-4C18-A2ED-D1D8CFEDC589}" presName="sibTrans" presStyleLbl="sibTrans2D1" presStyleIdx="0" presStyleCnt="0"/>
      <dgm:spPr/>
    </dgm:pt>
    <dgm:pt modelId="{1C5E566F-5963-4DF1-8D5C-C52EDB9C8515}" type="pres">
      <dgm:prSet presAssocID="{96F4C435-B430-46A9-86E1-BCD34F19780E}" presName="compNode" presStyleCnt="0"/>
      <dgm:spPr/>
    </dgm:pt>
    <dgm:pt modelId="{BEE1093F-1AC8-422D-B405-13D061A29B19}" type="pres">
      <dgm:prSet presAssocID="{96F4C435-B430-46A9-86E1-BCD34F19780E}" presName="iconBgRect" presStyleLbl="bgShp" presStyleIdx="2" presStyleCnt="5"/>
      <dgm:spPr/>
    </dgm:pt>
    <dgm:pt modelId="{16BCAF7B-588F-4521-9BFE-00FA8EBC7D1B}" type="pres">
      <dgm:prSet presAssocID="{96F4C435-B430-46A9-86E1-BCD34F19780E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BBCFB56C-AF5F-4BDD-B4D8-B63A6BC8366D}" type="pres">
      <dgm:prSet presAssocID="{96F4C435-B430-46A9-86E1-BCD34F19780E}" presName="spaceRect" presStyleCnt="0"/>
      <dgm:spPr/>
    </dgm:pt>
    <dgm:pt modelId="{DDB791A6-8A42-4C65-9D9A-3CAF426C0B4D}" type="pres">
      <dgm:prSet presAssocID="{96F4C435-B430-46A9-86E1-BCD34F19780E}" presName="textRect" presStyleLbl="revTx" presStyleIdx="2" presStyleCnt="5">
        <dgm:presLayoutVars>
          <dgm:chMax val="1"/>
          <dgm:chPref val="1"/>
        </dgm:presLayoutVars>
      </dgm:prSet>
      <dgm:spPr/>
    </dgm:pt>
    <dgm:pt modelId="{C6184F75-67D4-43C4-9B04-468D879AE4B5}" type="pres">
      <dgm:prSet presAssocID="{DDD8095D-BA8F-4F7F-A8AA-3665E9E1A39A}" presName="sibTrans" presStyleLbl="sibTrans2D1" presStyleIdx="0" presStyleCnt="0"/>
      <dgm:spPr/>
    </dgm:pt>
    <dgm:pt modelId="{584D1EFD-284D-4DDB-BB27-36A68A5305B1}" type="pres">
      <dgm:prSet presAssocID="{24EA1424-2E95-4DF6-9E47-783B94A61C42}" presName="compNode" presStyleCnt="0"/>
      <dgm:spPr/>
    </dgm:pt>
    <dgm:pt modelId="{F5B1BF9C-E406-4964-BE05-7DABF012A263}" type="pres">
      <dgm:prSet presAssocID="{24EA1424-2E95-4DF6-9E47-783B94A61C42}" presName="iconBgRect" presStyleLbl="bgShp" presStyleIdx="3" presStyleCnt="5" custLinFactNeighborX="-50741"/>
      <dgm:spPr/>
    </dgm:pt>
    <dgm:pt modelId="{31A57B21-49B0-44D5-A88D-EB377D9D59C3}" type="pres">
      <dgm:prSet presAssocID="{24EA1424-2E95-4DF6-9E47-783B94A61C42}" presName="iconRect" presStyleLbl="node1" presStyleIdx="3" presStyleCnt="5" custLinFactNeighborX="-73537" custLinFactNeighborY="-514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B5DFD91D-B530-42A5-B1B8-FD50D2EC0ABB}" type="pres">
      <dgm:prSet presAssocID="{24EA1424-2E95-4DF6-9E47-783B94A61C42}" presName="spaceRect" presStyleCnt="0"/>
      <dgm:spPr/>
    </dgm:pt>
    <dgm:pt modelId="{CA6B434E-EC74-45C9-9125-44ACAF66ED6D}" type="pres">
      <dgm:prSet presAssocID="{24EA1424-2E95-4DF6-9E47-783B94A61C42}" presName="textRect" presStyleLbl="revTx" presStyleIdx="3" presStyleCnt="5" custScaleY="6012" custLinFactNeighborX="-20260" custLinFactNeighborY="14924">
        <dgm:presLayoutVars>
          <dgm:chMax val="1"/>
          <dgm:chPref val="1"/>
        </dgm:presLayoutVars>
      </dgm:prSet>
      <dgm:spPr/>
    </dgm:pt>
    <dgm:pt modelId="{184A5622-A112-4875-BAC6-CEC521F9880F}" type="pres">
      <dgm:prSet presAssocID="{61D74366-754D-481F-BAE1-A16D4393822E}" presName="sibTrans" presStyleLbl="sibTrans2D1" presStyleIdx="0" presStyleCnt="0"/>
      <dgm:spPr/>
    </dgm:pt>
    <dgm:pt modelId="{971DF615-C59D-4A3D-8BE2-14FD1DF3308C}" type="pres">
      <dgm:prSet presAssocID="{A5FE99A4-1B4E-47E3-84F5-AD393A7E7F4C}" presName="compNode" presStyleCnt="0"/>
      <dgm:spPr/>
    </dgm:pt>
    <dgm:pt modelId="{C443B782-70A9-43B7-BFEC-CADC556A0549}" type="pres">
      <dgm:prSet presAssocID="{A5FE99A4-1B4E-47E3-84F5-AD393A7E7F4C}" presName="iconBgRect" presStyleLbl="bgShp" presStyleIdx="4" presStyleCnt="5" custLinFactNeighborX="-8955" custLinFactNeighborY="9568"/>
      <dgm:spPr/>
    </dgm:pt>
    <dgm:pt modelId="{90A339E6-78C5-4D1B-B1F4-0DFEDEDD4E3A}" type="pres">
      <dgm:prSet presAssocID="{A5FE99A4-1B4E-47E3-84F5-AD393A7E7F4C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4C4B0400-2380-4C9D-9CDB-AF710BF600F0}" type="pres">
      <dgm:prSet presAssocID="{A5FE99A4-1B4E-47E3-84F5-AD393A7E7F4C}" presName="spaceRect" presStyleCnt="0"/>
      <dgm:spPr/>
    </dgm:pt>
    <dgm:pt modelId="{9A7B4926-A88B-424C-8004-B3F0493FB815}" type="pres">
      <dgm:prSet presAssocID="{A5FE99A4-1B4E-47E3-84F5-AD393A7E7F4C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C5A92A1A-3E57-45E7-8585-C915AA2FEE3A}" type="presOf" srcId="{D0864DAB-9D80-4456-93AF-A44D8B5A5831}" destId="{769298A1-929B-4253-BA7D-6D3880C3134D}" srcOrd="0" destOrd="0" presId="urn:microsoft.com/office/officeart/2018/2/layout/IconCircleList"/>
    <dgm:cxn modelId="{64CF1A68-172A-423C-8A2E-830C8223AC5F}" srcId="{D0864DAB-9D80-4456-93AF-A44D8B5A5831}" destId="{96F4C435-B430-46A9-86E1-BCD34F19780E}" srcOrd="2" destOrd="0" parTransId="{D69535D2-CF61-4796-A81F-91DD3B67E486}" sibTransId="{DDD8095D-BA8F-4F7F-A8AA-3665E9E1A39A}"/>
    <dgm:cxn modelId="{7A356E6C-C523-48A5-B9B6-40642B6E0338}" srcId="{D0864DAB-9D80-4456-93AF-A44D8B5A5831}" destId="{ABAC2F02-5855-4C7A-9112-772362232F32}" srcOrd="1" destOrd="0" parTransId="{6536FF37-F939-43DA-9B5E-16496698DE69}" sibTransId="{0637DA32-333A-4C18-A2ED-D1D8CFEDC589}"/>
    <dgm:cxn modelId="{0889AC7A-DD89-4624-93E2-1A275F23B41A}" srcId="{D0864DAB-9D80-4456-93AF-A44D8B5A5831}" destId="{A5FE99A4-1B4E-47E3-84F5-AD393A7E7F4C}" srcOrd="4" destOrd="0" parTransId="{B41384F6-AD33-408F-8010-74EAADC67AF2}" sibTransId="{6E507AB3-9D1C-4129-B814-699F8FBC4B05}"/>
    <dgm:cxn modelId="{E4339D7B-6C8B-43F7-884F-50D2388E371E}" type="presOf" srcId="{A5FE99A4-1B4E-47E3-84F5-AD393A7E7F4C}" destId="{9A7B4926-A88B-424C-8004-B3F0493FB815}" srcOrd="0" destOrd="0" presId="urn:microsoft.com/office/officeart/2018/2/layout/IconCircleList"/>
    <dgm:cxn modelId="{EB1EB97F-61C8-4DBB-A6A7-01CB0909FFDC}" type="presOf" srcId="{DDD8095D-BA8F-4F7F-A8AA-3665E9E1A39A}" destId="{C6184F75-67D4-43C4-9B04-468D879AE4B5}" srcOrd="0" destOrd="0" presId="urn:microsoft.com/office/officeart/2018/2/layout/IconCircleList"/>
    <dgm:cxn modelId="{2DDC9781-6C5A-454F-8A9D-687511D77EA4}" type="presOf" srcId="{F2451851-DB61-4A5F-BE6C-9BDDA47658A8}" destId="{6025D9F6-4810-45A8-A80F-B7E59ACD21EB}" srcOrd="0" destOrd="0" presId="urn:microsoft.com/office/officeart/2018/2/layout/IconCircleList"/>
    <dgm:cxn modelId="{1B89158B-E5FC-4BEA-9DE7-8ABAC66352FA}" srcId="{D0864DAB-9D80-4456-93AF-A44D8B5A5831}" destId="{24EA1424-2E95-4DF6-9E47-783B94A61C42}" srcOrd="3" destOrd="0" parTransId="{674A7441-2A33-4086-B77F-0DD86EB6E882}" sibTransId="{61D74366-754D-481F-BAE1-A16D4393822E}"/>
    <dgm:cxn modelId="{67ACFD9B-36F7-495A-8B8F-38CF8C36A667}" srcId="{D0864DAB-9D80-4456-93AF-A44D8B5A5831}" destId="{F2451851-DB61-4A5F-BE6C-9BDDA47658A8}" srcOrd="0" destOrd="0" parTransId="{CEC83F40-FF7C-4FA1-97AC-B69C0A335302}" sibTransId="{8C9A1CEA-2618-4670-BAFE-33FF4E6E9B59}"/>
    <dgm:cxn modelId="{5B98F6A7-5D39-4803-90E8-45C1426BECFC}" type="presOf" srcId="{8C9A1CEA-2618-4670-BAFE-33FF4E6E9B59}" destId="{52AA11DC-780C-4C0A-BECB-ED464B6656AF}" srcOrd="0" destOrd="0" presId="urn:microsoft.com/office/officeart/2018/2/layout/IconCircleList"/>
    <dgm:cxn modelId="{C19B85AB-BB25-4F6A-B559-6A97D48E400C}" type="presOf" srcId="{ABAC2F02-5855-4C7A-9112-772362232F32}" destId="{BC6B2B67-6B11-46FB-818E-A5A50B37FDC5}" srcOrd="0" destOrd="0" presId="urn:microsoft.com/office/officeart/2018/2/layout/IconCircleList"/>
    <dgm:cxn modelId="{84D1A2B5-FBCF-42CA-9EE2-5E65E5513583}" type="presOf" srcId="{0637DA32-333A-4C18-A2ED-D1D8CFEDC589}" destId="{1F795DB6-5A8B-4B91-BB0A-BAB4BC221024}" srcOrd="0" destOrd="0" presId="urn:microsoft.com/office/officeart/2018/2/layout/IconCircleList"/>
    <dgm:cxn modelId="{FC653CD7-970A-4A69-A554-D4A343547BCF}" type="presOf" srcId="{96F4C435-B430-46A9-86E1-BCD34F19780E}" destId="{DDB791A6-8A42-4C65-9D9A-3CAF426C0B4D}" srcOrd="0" destOrd="0" presId="urn:microsoft.com/office/officeart/2018/2/layout/IconCircleList"/>
    <dgm:cxn modelId="{B02EBAE4-8AD9-4D29-B226-BE680B53C225}" type="presOf" srcId="{24EA1424-2E95-4DF6-9E47-783B94A61C42}" destId="{CA6B434E-EC74-45C9-9125-44ACAF66ED6D}" srcOrd="0" destOrd="0" presId="urn:microsoft.com/office/officeart/2018/2/layout/IconCircleList"/>
    <dgm:cxn modelId="{6C456EFE-380F-4609-95B0-344735F82D7F}" type="presOf" srcId="{61D74366-754D-481F-BAE1-A16D4393822E}" destId="{184A5622-A112-4875-BAC6-CEC521F9880F}" srcOrd="0" destOrd="0" presId="urn:microsoft.com/office/officeart/2018/2/layout/IconCircleList"/>
    <dgm:cxn modelId="{78E08EF7-052A-433D-A588-20B6880EB309}" type="presParOf" srcId="{769298A1-929B-4253-BA7D-6D3880C3134D}" destId="{72B3D348-B773-4C25-A0D0-6EEB5FFC16E0}" srcOrd="0" destOrd="0" presId="urn:microsoft.com/office/officeart/2018/2/layout/IconCircleList"/>
    <dgm:cxn modelId="{286CAEF6-CEAA-43BD-B958-1D50FAC9CFED}" type="presParOf" srcId="{72B3D348-B773-4C25-A0D0-6EEB5FFC16E0}" destId="{1A96E4D6-C013-4129-AC7A-7812D8803F01}" srcOrd="0" destOrd="0" presId="urn:microsoft.com/office/officeart/2018/2/layout/IconCircleList"/>
    <dgm:cxn modelId="{7358B62B-3C1D-4233-9A7C-40B87A18D6D8}" type="presParOf" srcId="{1A96E4D6-C013-4129-AC7A-7812D8803F01}" destId="{8F08A73C-330E-4BE7-9BDE-0A1C62EA210C}" srcOrd="0" destOrd="0" presId="urn:microsoft.com/office/officeart/2018/2/layout/IconCircleList"/>
    <dgm:cxn modelId="{EA4EC1AD-EDFA-43DD-BB9D-D33746CB16D9}" type="presParOf" srcId="{1A96E4D6-C013-4129-AC7A-7812D8803F01}" destId="{C38E9A53-F0E7-46F6-97AE-7F2B122A70D7}" srcOrd="1" destOrd="0" presId="urn:microsoft.com/office/officeart/2018/2/layout/IconCircleList"/>
    <dgm:cxn modelId="{102909A8-E0AC-40B0-B6C7-4D7BFC37E32D}" type="presParOf" srcId="{1A96E4D6-C013-4129-AC7A-7812D8803F01}" destId="{C467F787-E3C3-4661-911B-22A8232785D4}" srcOrd="2" destOrd="0" presId="urn:microsoft.com/office/officeart/2018/2/layout/IconCircleList"/>
    <dgm:cxn modelId="{7FF83C45-44E6-4023-A645-E641E2A2B7A3}" type="presParOf" srcId="{1A96E4D6-C013-4129-AC7A-7812D8803F01}" destId="{6025D9F6-4810-45A8-A80F-B7E59ACD21EB}" srcOrd="3" destOrd="0" presId="urn:microsoft.com/office/officeart/2018/2/layout/IconCircleList"/>
    <dgm:cxn modelId="{BBA911CD-B2A3-4277-A253-04A1D5B0B9BC}" type="presParOf" srcId="{72B3D348-B773-4C25-A0D0-6EEB5FFC16E0}" destId="{52AA11DC-780C-4C0A-BECB-ED464B6656AF}" srcOrd="1" destOrd="0" presId="urn:microsoft.com/office/officeart/2018/2/layout/IconCircleList"/>
    <dgm:cxn modelId="{5D4EECE8-86F1-4968-8CDA-2BFBB44E75A3}" type="presParOf" srcId="{72B3D348-B773-4C25-A0D0-6EEB5FFC16E0}" destId="{D7B249B0-9FF8-4B64-8384-DC907793EBB7}" srcOrd="2" destOrd="0" presId="urn:microsoft.com/office/officeart/2018/2/layout/IconCircleList"/>
    <dgm:cxn modelId="{E8D52DD8-CB04-4E22-9B77-2E15A97AD393}" type="presParOf" srcId="{D7B249B0-9FF8-4B64-8384-DC907793EBB7}" destId="{A6F61F62-B99E-4CA1-843E-8C042B7EEF4F}" srcOrd="0" destOrd="0" presId="urn:microsoft.com/office/officeart/2018/2/layout/IconCircleList"/>
    <dgm:cxn modelId="{8C5A1A3F-D5EB-48BF-A3A3-6A09D9179580}" type="presParOf" srcId="{D7B249B0-9FF8-4B64-8384-DC907793EBB7}" destId="{CC27B516-01BA-461B-AA92-18970BA15BBA}" srcOrd="1" destOrd="0" presId="urn:microsoft.com/office/officeart/2018/2/layout/IconCircleList"/>
    <dgm:cxn modelId="{41F5174F-2527-42A2-88C1-726E783DB0D9}" type="presParOf" srcId="{D7B249B0-9FF8-4B64-8384-DC907793EBB7}" destId="{A434D030-6811-46E2-BC75-93E84281EDF0}" srcOrd="2" destOrd="0" presId="urn:microsoft.com/office/officeart/2018/2/layout/IconCircleList"/>
    <dgm:cxn modelId="{ADBD0751-6CEE-460D-9F10-F9DD9DDEA008}" type="presParOf" srcId="{D7B249B0-9FF8-4B64-8384-DC907793EBB7}" destId="{BC6B2B67-6B11-46FB-818E-A5A50B37FDC5}" srcOrd="3" destOrd="0" presId="urn:microsoft.com/office/officeart/2018/2/layout/IconCircleList"/>
    <dgm:cxn modelId="{DCE26BBE-B119-40FE-8D81-70E879BFD178}" type="presParOf" srcId="{72B3D348-B773-4C25-A0D0-6EEB5FFC16E0}" destId="{1F795DB6-5A8B-4B91-BB0A-BAB4BC221024}" srcOrd="3" destOrd="0" presId="urn:microsoft.com/office/officeart/2018/2/layout/IconCircleList"/>
    <dgm:cxn modelId="{F2ACB53B-A1F6-450A-893C-AC9003961B1C}" type="presParOf" srcId="{72B3D348-B773-4C25-A0D0-6EEB5FFC16E0}" destId="{1C5E566F-5963-4DF1-8D5C-C52EDB9C8515}" srcOrd="4" destOrd="0" presId="urn:microsoft.com/office/officeart/2018/2/layout/IconCircleList"/>
    <dgm:cxn modelId="{8DBFA874-DA84-4D54-AFC3-48BD2D12F34B}" type="presParOf" srcId="{1C5E566F-5963-4DF1-8D5C-C52EDB9C8515}" destId="{BEE1093F-1AC8-422D-B405-13D061A29B19}" srcOrd="0" destOrd="0" presId="urn:microsoft.com/office/officeart/2018/2/layout/IconCircleList"/>
    <dgm:cxn modelId="{7807CD4D-9967-4D11-B39A-7C7EB4238AF6}" type="presParOf" srcId="{1C5E566F-5963-4DF1-8D5C-C52EDB9C8515}" destId="{16BCAF7B-588F-4521-9BFE-00FA8EBC7D1B}" srcOrd="1" destOrd="0" presId="urn:microsoft.com/office/officeart/2018/2/layout/IconCircleList"/>
    <dgm:cxn modelId="{DC3C4146-1002-4052-B7B0-848595F13382}" type="presParOf" srcId="{1C5E566F-5963-4DF1-8D5C-C52EDB9C8515}" destId="{BBCFB56C-AF5F-4BDD-B4D8-B63A6BC8366D}" srcOrd="2" destOrd="0" presId="urn:microsoft.com/office/officeart/2018/2/layout/IconCircleList"/>
    <dgm:cxn modelId="{CFFB7024-CB89-4F91-B398-2E262B4B496B}" type="presParOf" srcId="{1C5E566F-5963-4DF1-8D5C-C52EDB9C8515}" destId="{DDB791A6-8A42-4C65-9D9A-3CAF426C0B4D}" srcOrd="3" destOrd="0" presId="urn:microsoft.com/office/officeart/2018/2/layout/IconCircleList"/>
    <dgm:cxn modelId="{83CA0D09-69D2-457C-8078-32CB75794282}" type="presParOf" srcId="{72B3D348-B773-4C25-A0D0-6EEB5FFC16E0}" destId="{C6184F75-67D4-43C4-9B04-468D879AE4B5}" srcOrd="5" destOrd="0" presId="urn:microsoft.com/office/officeart/2018/2/layout/IconCircleList"/>
    <dgm:cxn modelId="{E75B259F-39A5-452E-B968-C3E56B22D2F2}" type="presParOf" srcId="{72B3D348-B773-4C25-A0D0-6EEB5FFC16E0}" destId="{584D1EFD-284D-4DDB-BB27-36A68A5305B1}" srcOrd="6" destOrd="0" presId="urn:microsoft.com/office/officeart/2018/2/layout/IconCircleList"/>
    <dgm:cxn modelId="{2C2931E5-3224-466C-9DA8-28F506CC731A}" type="presParOf" srcId="{584D1EFD-284D-4DDB-BB27-36A68A5305B1}" destId="{F5B1BF9C-E406-4964-BE05-7DABF012A263}" srcOrd="0" destOrd="0" presId="urn:microsoft.com/office/officeart/2018/2/layout/IconCircleList"/>
    <dgm:cxn modelId="{F0C4E20F-9D12-440B-8994-9C24199381A8}" type="presParOf" srcId="{584D1EFD-284D-4DDB-BB27-36A68A5305B1}" destId="{31A57B21-49B0-44D5-A88D-EB377D9D59C3}" srcOrd="1" destOrd="0" presId="urn:microsoft.com/office/officeart/2018/2/layout/IconCircleList"/>
    <dgm:cxn modelId="{107D3717-0B3A-4A8B-83F6-B07613FC3CDF}" type="presParOf" srcId="{584D1EFD-284D-4DDB-BB27-36A68A5305B1}" destId="{B5DFD91D-B530-42A5-B1B8-FD50D2EC0ABB}" srcOrd="2" destOrd="0" presId="urn:microsoft.com/office/officeart/2018/2/layout/IconCircleList"/>
    <dgm:cxn modelId="{A2BBE68B-6250-457B-BE63-38CD95839E0D}" type="presParOf" srcId="{584D1EFD-284D-4DDB-BB27-36A68A5305B1}" destId="{CA6B434E-EC74-45C9-9125-44ACAF66ED6D}" srcOrd="3" destOrd="0" presId="urn:microsoft.com/office/officeart/2018/2/layout/IconCircleList"/>
    <dgm:cxn modelId="{385F5125-B180-4397-A479-17787C9A4970}" type="presParOf" srcId="{72B3D348-B773-4C25-A0D0-6EEB5FFC16E0}" destId="{184A5622-A112-4875-BAC6-CEC521F9880F}" srcOrd="7" destOrd="0" presId="urn:microsoft.com/office/officeart/2018/2/layout/IconCircleList"/>
    <dgm:cxn modelId="{89A06E7C-F23C-4F0B-9205-146B8FFB4C6E}" type="presParOf" srcId="{72B3D348-B773-4C25-A0D0-6EEB5FFC16E0}" destId="{971DF615-C59D-4A3D-8BE2-14FD1DF3308C}" srcOrd="8" destOrd="0" presId="urn:microsoft.com/office/officeart/2018/2/layout/IconCircleList"/>
    <dgm:cxn modelId="{A531800B-F374-4B0C-ADFE-2560D4F675CB}" type="presParOf" srcId="{971DF615-C59D-4A3D-8BE2-14FD1DF3308C}" destId="{C443B782-70A9-43B7-BFEC-CADC556A0549}" srcOrd="0" destOrd="0" presId="urn:microsoft.com/office/officeart/2018/2/layout/IconCircleList"/>
    <dgm:cxn modelId="{CDCFAF62-491A-492A-AD9A-1488B1E18542}" type="presParOf" srcId="{971DF615-C59D-4A3D-8BE2-14FD1DF3308C}" destId="{90A339E6-78C5-4D1B-B1F4-0DFEDEDD4E3A}" srcOrd="1" destOrd="0" presId="urn:microsoft.com/office/officeart/2018/2/layout/IconCircleList"/>
    <dgm:cxn modelId="{A321F994-7A97-4B6A-A4B4-85EC8F72E2F8}" type="presParOf" srcId="{971DF615-C59D-4A3D-8BE2-14FD1DF3308C}" destId="{4C4B0400-2380-4C9D-9CDB-AF710BF600F0}" srcOrd="2" destOrd="0" presId="urn:microsoft.com/office/officeart/2018/2/layout/IconCircleList"/>
    <dgm:cxn modelId="{AB0F3829-34F3-454D-944C-6DBD085E3A98}" type="presParOf" srcId="{971DF615-C59D-4A3D-8BE2-14FD1DF3308C}" destId="{9A7B4926-A88B-424C-8004-B3F0493FB815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08A73C-330E-4BE7-9BDE-0A1C62EA210C}">
      <dsp:nvSpPr>
        <dsp:cNvPr id="0" name=""/>
        <dsp:cNvSpPr/>
      </dsp:nvSpPr>
      <dsp:spPr>
        <a:xfrm>
          <a:off x="880644" y="81418"/>
          <a:ext cx="850990" cy="85099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8E9A53-F0E7-46F6-97AE-7F2B122A70D7}">
      <dsp:nvSpPr>
        <dsp:cNvPr id="0" name=""/>
        <dsp:cNvSpPr/>
      </dsp:nvSpPr>
      <dsp:spPr>
        <a:xfrm>
          <a:off x="1059352" y="260126"/>
          <a:ext cx="493574" cy="49357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25D9F6-4810-45A8-A80F-B7E59ACD21EB}">
      <dsp:nvSpPr>
        <dsp:cNvPr id="0" name=""/>
        <dsp:cNvSpPr/>
      </dsp:nvSpPr>
      <dsp:spPr>
        <a:xfrm>
          <a:off x="1953385" y="85427"/>
          <a:ext cx="1927113" cy="8429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 dirty="0"/>
            <a:t>Makes project progress, budgets, and contractors visible at a glance</a:t>
          </a:r>
          <a:endParaRPr lang="en-US" sz="1800" kern="1200" dirty="0"/>
        </a:p>
      </dsp:txBody>
      <dsp:txXfrm>
        <a:off x="1953385" y="85427"/>
        <a:ext cx="1927113" cy="842973"/>
      </dsp:txXfrm>
    </dsp:sp>
    <dsp:sp modelId="{A6F61F62-B99E-4CA1-843E-8C042B7EEF4F}">
      <dsp:nvSpPr>
        <dsp:cNvPr id="0" name=""/>
        <dsp:cNvSpPr/>
      </dsp:nvSpPr>
      <dsp:spPr>
        <a:xfrm>
          <a:off x="4230012" y="81418"/>
          <a:ext cx="850990" cy="85099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27B516-01BA-461B-AA92-18970BA15BBA}">
      <dsp:nvSpPr>
        <dsp:cNvPr id="0" name=""/>
        <dsp:cNvSpPr/>
      </dsp:nvSpPr>
      <dsp:spPr>
        <a:xfrm>
          <a:off x="4408720" y="260126"/>
          <a:ext cx="493574" cy="49357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6B2B67-6B11-46FB-818E-A5A50B37FDC5}">
      <dsp:nvSpPr>
        <dsp:cNvPr id="0" name=""/>
        <dsp:cNvSpPr/>
      </dsp:nvSpPr>
      <dsp:spPr>
        <a:xfrm>
          <a:off x="5263357" y="81418"/>
          <a:ext cx="2005905" cy="8509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 dirty="0"/>
            <a:t>Helps ICC spot delays, risks, and cost issues quickly</a:t>
          </a:r>
          <a:endParaRPr lang="en-US" sz="1800" kern="1200" dirty="0"/>
        </a:p>
      </dsp:txBody>
      <dsp:txXfrm>
        <a:off x="5263357" y="81418"/>
        <a:ext cx="2005905" cy="850990"/>
      </dsp:txXfrm>
    </dsp:sp>
    <dsp:sp modelId="{BEE1093F-1AC8-422D-B405-13D061A29B19}">
      <dsp:nvSpPr>
        <dsp:cNvPr id="0" name=""/>
        <dsp:cNvSpPr/>
      </dsp:nvSpPr>
      <dsp:spPr>
        <a:xfrm>
          <a:off x="7618777" y="81418"/>
          <a:ext cx="850990" cy="85099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BCAF7B-588F-4521-9BFE-00FA8EBC7D1B}">
      <dsp:nvSpPr>
        <dsp:cNvPr id="0" name=""/>
        <dsp:cNvSpPr/>
      </dsp:nvSpPr>
      <dsp:spPr>
        <a:xfrm>
          <a:off x="7797484" y="260126"/>
          <a:ext cx="493574" cy="49357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B791A6-8A42-4C65-9D9A-3CAF426C0B4D}">
      <dsp:nvSpPr>
        <dsp:cNvPr id="0" name=""/>
        <dsp:cNvSpPr/>
      </dsp:nvSpPr>
      <dsp:spPr>
        <a:xfrm>
          <a:off x="8652122" y="81418"/>
          <a:ext cx="2005905" cy="8509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 dirty="0"/>
            <a:t>Demonstrates real-world use of XML, JSON, and database integration</a:t>
          </a:r>
          <a:endParaRPr lang="en-US" sz="1800" kern="1200" dirty="0"/>
        </a:p>
      </dsp:txBody>
      <dsp:txXfrm>
        <a:off x="8652122" y="81418"/>
        <a:ext cx="2005905" cy="850990"/>
      </dsp:txXfrm>
    </dsp:sp>
    <dsp:sp modelId="{F5B1BF9C-E406-4964-BE05-7DABF012A263}">
      <dsp:nvSpPr>
        <dsp:cNvPr id="0" name=""/>
        <dsp:cNvSpPr/>
      </dsp:nvSpPr>
      <dsp:spPr>
        <a:xfrm>
          <a:off x="448843" y="1314359"/>
          <a:ext cx="850990" cy="85099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A57B21-49B0-44D5-A88D-EB377D9D59C3}">
      <dsp:nvSpPr>
        <dsp:cNvPr id="0" name=""/>
        <dsp:cNvSpPr/>
      </dsp:nvSpPr>
      <dsp:spPr>
        <a:xfrm>
          <a:off x="696392" y="1467663"/>
          <a:ext cx="493574" cy="49357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6B434E-EC74-45C9-9125-44ACAF66ED6D}">
      <dsp:nvSpPr>
        <dsp:cNvPr id="0" name=""/>
        <dsp:cNvSpPr/>
      </dsp:nvSpPr>
      <dsp:spPr>
        <a:xfrm>
          <a:off x="1507593" y="1841275"/>
          <a:ext cx="2005905" cy="511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 dirty="0"/>
            <a:t>Brings all project information together in a single, reliable system</a:t>
          </a:r>
          <a:endParaRPr lang="en-US" sz="1800" kern="1200" dirty="0"/>
        </a:p>
      </dsp:txBody>
      <dsp:txXfrm>
        <a:off x="1507593" y="1841275"/>
        <a:ext cx="2005905" cy="51161"/>
      </dsp:txXfrm>
    </dsp:sp>
    <dsp:sp modelId="{C443B782-70A9-43B7-BFEC-CADC556A0549}">
      <dsp:nvSpPr>
        <dsp:cNvPr id="0" name=""/>
        <dsp:cNvSpPr/>
      </dsp:nvSpPr>
      <dsp:spPr>
        <a:xfrm>
          <a:off x="4193202" y="1395778"/>
          <a:ext cx="850990" cy="85099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A339E6-78C5-4D1B-B1F4-0DFEDEDD4E3A}">
      <dsp:nvSpPr>
        <dsp:cNvPr id="0" name=""/>
        <dsp:cNvSpPr/>
      </dsp:nvSpPr>
      <dsp:spPr>
        <a:xfrm>
          <a:off x="4448116" y="1493067"/>
          <a:ext cx="493574" cy="49357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7B4926-A88B-424C-8004-B3F0493FB815}">
      <dsp:nvSpPr>
        <dsp:cNvPr id="0" name=""/>
        <dsp:cNvSpPr/>
      </dsp:nvSpPr>
      <dsp:spPr>
        <a:xfrm>
          <a:off x="5302753" y="1314359"/>
          <a:ext cx="2005905" cy="8509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 dirty="0"/>
            <a:t>Provides an interactive website to view and manage projects efficiently</a:t>
          </a:r>
          <a:endParaRPr lang="en-US" sz="1800" kern="1200" dirty="0"/>
        </a:p>
      </dsp:txBody>
      <dsp:txXfrm>
        <a:off x="5302753" y="1314359"/>
        <a:ext cx="2005905" cy="8509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595E9-6132-43CA-ACA9-079A66501B33}" type="datetimeFigureOut">
              <a:rPr lang="en-CA" smtClean="0"/>
              <a:t>2025-12-06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08DE5-C0B9-41C7-B4A3-7880A7ACE3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85292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595E9-6132-43CA-ACA9-079A66501B33}" type="datetimeFigureOut">
              <a:rPr lang="en-CA" smtClean="0"/>
              <a:t>2025-12-06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08DE5-C0B9-41C7-B4A3-7880A7ACE3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67824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595E9-6132-43CA-ACA9-079A66501B33}" type="datetimeFigureOut">
              <a:rPr lang="en-CA" smtClean="0"/>
              <a:t>2025-12-06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08DE5-C0B9-41C7-B4A3-7880A7ACE3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51786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595E9-6132-43CA-ACA9-079A66501B33}" type="datetimeFigureOut">
              <a:rPr lang="en-CA" smtClean="0"/>
              <a:t>2025-12-06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08DE5-C0B9-41C7-B4A3-7880A7ACE3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7409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595E9-6132-43CA-ACA9-079A66501B33}" type="datetimeFigureOut">
              <a:rPr lang="en-CA" smtClean="0"/>
              <a:t>2025-12-06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08DE5-C0B9-41C7-B4A3-7880A7ACE3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58289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595E9-6132-43CA-ACA9-079A66501B33}" type="datetimeFigureOut">
              <a:rPr lang="en-CA" smtClean="0"/>
              <a:t>2025-12-06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08DE5-C0B9-41C7-B4A3-7880A7ACE3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55693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595E9-6132-43CA-ACA9-079A66501B33}" type="datetimeFigureOut">
              <a:rPr lang="en-CA" smtClean="0"/>
              <a:t>2025-12-06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08DE5-C0B9-41C7-B4A3-7880A7ACE3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04852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595E9-6132-43CA-ACA9-079A66501B33}" type="datetimeFigureOut">
              <a:rPr lang="en-CA" smtClean="0"/>
              <a:t>2025-12-06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08DE5-C0B9-41C7-B4A3-7880A7ACE3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132537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595E9-6132-43CA-ACA9-079A66501B33}" type="datetimeFigureOut">
              <a:rPr lang="en-CA" smtClean="0"/>
              <a:t>2025-12-06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08DE5-C0B9-41C7-B4A3-7880A7ACE3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490530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595E9-6132-43CA-ACA9-079A66501B33}" type="datetimeFigureOut">
              <a:rPr lang="en-CA" smtClean="0"/>
              <a:t>2025-12-06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08DE5-C0B9-41C7-B4A3-7880A7ACE3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26418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595E9-6132-43CA-ACA9-079A66501B33}" type="datetimeFigureOut">
              <a:rPr lang="en-CA" smtClean="0"/>
              <a:t>2025-12-06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08DE5-C0B9-41C7-B4A3-7880A7ACE3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29623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374595E9-6132-43CA-ACA9-079A66501B33}" type="datetimeFigureOut">
              <a:rPr lang="en-CA" smtClean="0"/>
              <a:t>2025-12-06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9E408DE5-C0B9-41C7-B4A3-7880A7ACE3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911708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98" r:id="rId1"/>
    <p:sldLayoutId id="2147483799" r:id="rId2"/>
    <p:sldLayoutId id="2147483800" r:id="rId3"/>
    <p:sldLayoutId id="2147483801" r:id="rId4"/>
    <p:sldLayoutId id="2147483802" r:id="rId5"/>
    <p:sldLayoutId id="2147483803" r:id="rId6"/>
    <p:sldLayoutId id="2147483804" r:id="rId7"/>
    <p:sldLayoutId id="2147483805" r:id="rId8"/>
    <p:sldLayoutId id="2147483806" r:id="rId9"/>
    <p:sldLayoutId id="2147483807" r:id="rId10"/>
    <p:sldLayoutId id="214748380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person in a hard hat holding a blueprint&#10;&#10;AI-generated content may be incorrect.">
            <a:extLst>
              <a:ext uri="{FF2B5EF4-FFF2-40B4-BE49-F238E27FC236}">
                <a16:creationId xmlns:a16="http://schemas.microsoft.com/office/drawing/2014/main" id="{A45B185E-CD5A-F338-9FBF-34F52442D4F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47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2902AB1-CB54-2DF1-CAF2-4EA70400F6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National Infrastructure Database-</a:t>
            </a:r>
            <a:r>
              <a:rPr lang="en-US" b="1">
                <a:solidFill>
                  <a:srgbClr val="FFFFFF"/>
                </a:solidFill>
              </a:rPr>
              <a:t>Modernized</a:t>
            </a:r>
            <a:endParaRPr lang="en-CA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32819A-FFED-84FC-4C11-1EFA34E5B7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 fontScale="25000" lnSpcReduction="20000"/>
          </a:bodyPr>
          <a:lstStyle/>
          <a:p>
            <a:r>
              <a:rPr lang="en-US" sz="1100" dirty="0">
                <a:solidFill>
                  <a:srgbClr val="FFFFFF"/>
                </a:solidFill>
              </a:rPr>
              <a:t>By: </a:t>
            </a:r>
          </a:p>
          <a:p>
            <a:r>
              <a:rPr lang="en-US" sz="8600" dirty="0">
                <a:solidFill>
                  <a:srgbClr val="FFFFFF"/>
                </a:solidFill>
                <a:latin typeface="Amasis MT Pro Black" panose="020F0502020204030204" pitchFamily="18" charset="0"/>
              </a:rPr>
              <a:t>Jordan Stella</a:t>
            </a:r>
          </a:p>
          <a:p>
            <a:r>
              <a:rPr lang="en-US" sz="8600" dirty="0">
                <a:solidFill>
                  <a:srgbClr val="FFFFFF"/>
                </a:solidFill>
                <a:latin typeface="Amasis MT Pro Black" panose="020F0502020204030204" pitchFamily="18" charset="0"/>
              </a:rPr>
              <a:t>Duru Elli</a:t>
            </a:r>
          </a:p>
          <a:p>
            <a:r>
              <a:rPr lang="en-US" sz="8600" dirty="0">
                <a:solidFill>
                  <a:srgbClr val="FFFFFF"/>
                </a:solidFill>
                <a:latin typeface="Amasis MT Pro Black" panose="020F0502020204030204" pitchFamily="18" charset="0"/>
              </a:rPr>
              <a:t>Mohammed Aishat </a:t>
            </a:r>
            <a:endParaRPr lang="en-CA" sz="8600" dirty="0">
              <a:solidFill>
                <a:srgbClr val="FFFFFF"/>
              </a:solidFill>
              <a:latin typeface="Amasis MT Pro Black" panose="020F0502020204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27548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777F1-B227-5B95-5946-AB0F58B17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Our project Goals</a:t>
            </a:r>
            <a:br>
              <a:rPr lang="en-US"/>
            </a:br>
            <a:endParaRPr 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E7A4969D-BE84-C13A-D628-50B5F1EB207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25625"/>
            <a:ext cx="10515600" cy="4351338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altLang="en-US"/>
              <a:t>Build a relational database</a:t>
            </a:r>
          </a:p>
          <a:p>
            <a:pPr lvl="0"/>
            <a:r>
              <a:rPr lang="en-US" altLang="en-US"/>
              <a:t>Provide clean project tracking</a:t>
            </a:r>
          </a:p>
          <a:p>
            <a:pPr lvl="0"/>
            <a:r>
              <a:rPr lang="en-US" altLang="en-US"/>
              <a:t>Make XML &amp; JSON data accessible</a:t>
            </a:r>
          </a:p>
          <a:p>
            <a:pPr lvl="0"/>
            <a:r>
              <a:rPr lang="en-US" altLang="en-US"/>
              <a:t>Create a prototype website</a:t>
            </a:r>
          </a:p>
          <a:p>
            <a:pPr lvl="0"/>
            <a:r>
              <a:rPr lang="en-US" altLang="en-US"/>
              <a:t>Demonstrate how ICC can use this system</a:t>
            </a:r>
          </a:p>
        </p:txBody>
      </p:sp>
      <p:pic>
        <p:nvPicPr>
          <p:cNvPr id="7" name="Graphic 6" descr="Database with solid fill">
            <a:extLst>
              <a:ext uri="{FF2B5EF4-FFF2-40B4-BE49-F238E27FC236}">
                <a16:creationId xmlns:a16="http://schemas.microsoft.com/office/drawing/2014/main" id="{9B043F88-D502-22FC-4EA4-A1DCC6CF7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80610" y="1071282"/>
            <a:ext cx="4737650" cy="4737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5133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061A8-4264-F5FA-945B-1750C6F12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The Problem</a:t>
            </a:r>
            <a:endParaRPr lang="en-CA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0184A6F1-F5C4-FB3C-BB3B-801E0CEA3BB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25625"/>
            <a:ext cx="10515600" cy="4351338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altLang="en-US"/>
              <a:t>Canada struggles with tracking large-scale infrastructure projects</a:t>
            </a:r>
          </a:p>
          <a:p>
            <a:pPr lvl="0"/>
            <a:r>
              <a:rPr lang="en-US" altLang="en-US"/>
              <a:t>Government departments rely on disconnected spreadsheets</a:t>
            </a:r>
          </a:p>
          <a:p>
            <a:pPr lvl="0"/>
            <a:r>
              <a:rPr lang="en-US" altLang="en-US"/>
              <a:t>Information is scattered between provinces and contractors</a:t>
            </a:r>
          </a:p>
          <a:p>
            <a:pPr lvl="0"/>
            <a:r>
              <a:rPr lang="en-US" altLang="en-US"/>
              <a:t>Difficult to monitor project progress in real time</a:t>
            </a:r>
          </a:p>
          <a:p>
            <a:pPr lvl="0"/>
            <a:r>
              <a:rPr lang="en-US" altLang="en-US"/>
              <a:t>Leads to delays, budgeting issues, and poor transparency</a:t>
            </a:r>
          </a:p>
          <a:p>
            <a:pPr lvl="0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347534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149AA-052D-0BAC-9D55-299382034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9659" y="1403042"/>
            <a:ext cx="8911687" cy="1644957"/>
          </a:xfrm>
        </p:spPr>
        <p:txBody>
          <a:bodyPr>
            <a:normAutofit/>
          </a:bodyPr>
          <a:lstStyle/>
          <a:p>
            <a:r>
              <a:rPr lang="en-US" sz="4000" dirty="0"/>
              <a:t>Why Centralization Matters</a:t>
            </a:r>
            <a:endParaRPr lang="en-CA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F70C36-DCB8-4DCE-75FC-20C3BCBE7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07267"/>
            <a:ext cx="10515600" cy="3069696"/>
          </a:xfrm>
        </p:spPr>
        <p:txBody>
          <a:bodyPr/>
          <a:lstStyle/>
          <a:p>
            <a:r>
              <a:rPr lang="en-US" b="1" dirty="0"/>
              <a:t>Single Source of Truth</a:t>
            </a:r>
            <a:r>
              <a:rPr lang="en-US" dirty="0"/>
              <a:t> </a:t>
            </a:r>
          </a:p>
          <a:p>
            <a:r>
              <a:rPr lang="en-US" b="1" dirty="0"/>
              <a:t>Better Transparency</a:t>
            </a:r>
            <a:r>
              <a:rPr lang="en-US" dirty="0"/>
              <a:t> </a:t>
            </a:r>
          </a:p>
          <a:p>
            <a:r>
              <a:rPr lang="en-US" b="1" dirty="0"/>
              <a:t>Faster Decision-Making</a:t>
            </a:r>
            <a:endParaRPr lang="en-US" dirty="0"/>
          </a:p>
          <a:p>
            <a:r>
              <a:rPr lang="en-US" b="1" dirty="0"/>
              <a:t>Reduced Errors</a:t>
            </a:r>
            <a:endParaRPr lang="en-US" dirty="0"/>
          </a:p>
          <a:p>
            <a:r>
              <a:rPr lang="en-US" b="1" dirty="0"/>
              <a:t>Efficient Oversight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206292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4F21F-E38F-1E65-A9FF-225D82A3C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146" y="1039383"/>
            <a:ext cx="8911687" cy="1280890"/>
          </a:xfrm>
        </p:spPr>
        <p:txBody>
          <a:bodyPr>
            <a:normAutofit/>
          </a:bodyPr>
          <a:lstStyle/>
          <a:p>
            <a:r>
              <a:rPr lang="en-US" sz="4400" dirty="0"/>
              <a:t>Database Structure Breakdown</a:t>
            </a:r>
            <a:endParaRPr lang="en-CA" sz="44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D0096DC-CFE7-7539-11DE-F93E9247E2C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20146" y="3239180"/>
            <a:ext cx="11240578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Projects: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Stores project details (ID, Name, Status, Budget, HQ, Winning Bidder)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Provinces: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Stores region info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Contractors: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Stores contractor details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Project Assignments/Tenders: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Links contractors to projects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Ensures clean, consistent data and avoids duplication</a:t>
            </a:r>
          </a:p>
        </p:txBody>
      </p:sp>
    </p:spTree>
    <p:extLst>
      <p:ext uri="{BB962C8B-B14F-4D97-AF65-F5344CB8AC3E}">
        <p14:creationId xmlns:p14="http://schemas.microsoft.com/office/powerpoint/2010/main" val="6494628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1FE06-23ED-3CD4-C656-67E560CAF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/>
              <a:t>ERD Overview</a:t>
            </a:r>
            <a:endParaRPr lang="en-CA" sz="480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209FCEA-0B16-FBC5-BDBE-9AEF9798068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0867" y="753533"/>
            <a:ext cx="4275666" cy="548542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ERD maps out how all project information connects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Includes major tables: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Projects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Contractors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Provinces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 descr="A screenshot of a diagram&#10;&#10;AI-generated content may be incorrect.">
            <a:extLst>
              <a:ext uri="{FF2B5EF4-FFF2-40B4-BE49-F238E27FC236}">
                <a16:creationId xmlns:a16="http://schemas.microsoft.com/office/drawing/2014/main" id="{121F7F05-5B81-FCDE-5508-C55F8928F8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1582" y="0"/>
            <a:ext cx="103497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297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Content Placeholder 12" descr="A screenshot of a computer program">
            <a:extLst>
              <a:ext uri="{FF2B5EF4-FFF2-40B4-BE49-F238E27FC236}">
                <a16:creationId xmlns:a16="http://schemas.microsoft.com/office/drawing/2014/main" id="{79B9A238-02A7-8452-D522-105BD1BB19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220" b="-1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3A2FBA4-845D-D32D-AB89-6088BAC51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US" sz="4000"/>
              <a:t>SQL Demo: Key Queries</a:t>
            </a:r>
            <a:endParaRPr lang="en-CA" sz="4000"/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FBE2FB34-A93E-39D3-2732-F0B0B473EC6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531610" y="2434201"/>
            <a:ext cx="3822189" cy="374276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Projects by province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In-Progress projects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Projects per contractor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Update status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Budget by province</a:t>
            </a:r>
          </a:p>
        </p:txBody>
      </p:sp>
    </p:spTree>
    <p:extLst>
      <p:ext uri="{BB962C8B-B14F-4D97-AF65-F5344CB8AC3E}">
        <p14:creationId xmlns:p14="http://schemas.microsoft.com/office/powerpoint/2010/main" val="37424211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D0268-DAE4-BC69-71F0-1690AB50E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Data – XML &amp; JSON</a:t>
            </a:r>
            <a:endParaRPr lang="en-CA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FDF4268-DA21-0554-4833-A35DD8B0010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130749"/>
            <a:ext cx="9172960" cy="37410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800" b="1" dirty="0"/>
              <a:t>in-Progress Projects (XML)</a:t>
            </a:r>
            <a:endParaRPr lang="en-US" sz="1800" dirty="0"/>
          </a:p>
          <a:p>
            <a:r>
              <a:rPr lang="en-US" sz="1800" dirty="0"/>
              <a:t>Tracks active infrastructure projects across Canada</a:t>
            </a:r>
          </a:p>
          <a:p>
            <a:r>
              <a:rPr lang="en-US" sz="1800" dirty="0"/>
              <a:t>Structured using proper XML tags for clarity and consistency</a:t>
            </a:r>
          </a:p>
          <a:p>
            <a:r>
              <a:rPr lang="en-US" sz="1800" dirty="0"/>
              <a:t>Stores essential details: Project ID, Name, Status, Budget, Winning Bidder, Headquarters</a:t>
            </a:r>
          </a:p>
          <a:p>
            <a:pPr marL="0" indent="0">
              <a:buNone/>
            </a:pPr>
            <a:endParaRPr lang="en-US" sz="1800" dirty="0"/>
          </a:p>
          <a:p>
            <a:r>
              <a:rPr lang="en-US" sz="1800" b="1" dirty="0"/>
              <a:t>Planned Projects (JSON)</a:t>
            </a:r>
            <a:endParaRPr lang="en-US" sz="1800" dirty="0"/>
          </a:p>
          <a:p>
            <a:r>
              <a:rPr lang="en-US" sz="1800" dirty="0"/>
              <a:t>Contains upcoming projects in the planning stage</a:t>
            </a:r>
          </a:p>
          <a:p>
            <a:r>
              <a:rPr lang="en-US" sz="1800" dirty="0"/>
              <a:t>Organized as a clean JSON array for easy integration with web or database systems</a:t>
            </a:r>
          </a:p>
          <a:p>
            <a:r>
              <a:rPr lang="en-US" sz="1800" dirty="0"/>
              <a:t>Each project includes: Project ID, Name, Status, Budget, Winning Bidder, Headquarters</a:t>
            </a:r>
          </a:p>
          <a:p>
            <a:r>
              <a:rPr lang="en-US" sz="1800" b="1" dirty="0"/>
              <a:t>Slide Visual Idea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7821024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22329-4170-B344-C82A-27D0FE5B8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Proof of Concept Webpage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635651-608C-5BBE-061E-19CE3CE911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Home Page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About Us Page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Projects Page</a:t>
            </a:r>
            <a:endParaRPr lang="en-US" dirty="0"/>
          </a:p>
          <a:p>
            <a:r>
              <a:rPr lang="en-US" dirty="0"/>
              <a:t>Dynamically displays project data</a:t>
            </a:r>
          </a:p>
          <a:p>
            <a:r>
              <a:rPr lang="en-US" dirty="0"/>
              <a:t>Data fetched live from GitHub for demonstration</a:t>
            </a:r>
          </a:p>
          <a:p>
            <a:pPr marL="0" indent="0">
              <a:buNone/>
            </a:pPr>
            <a:r>
              <a:rPr lang="en-US" b="1" dirty="0"/>
              <a:t>Contact Us Page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7214573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8A870-DD96-31B7-4467-158761ECC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/>
              <a:t>Our Proposed Solution</a:t>
            </a:r>
            <a:endParaRPr lang="en-CA" sz="400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4BDDB54D-A544-A5D9-4813-AF0C8C1A6D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r>
              <a:rPr lang="en-US" sz="2000"/>
              <a:t>Improve the tracking and management of national infrastructure projects in Canada</a:t>
            </a:r>
          </a:p>
          <a:p>
            <a:r>
              <a:rPr lang="en-US" sz="2000"/>
              <a:t>Replace disconnected spreadsheets with a centralized, reliable system</a:t>
            </a:r>
          </a:p>
          <a:p>
            <a:r>
              <a:rPr lang="en-US" sz="2000"/>
              <a:t>Supports decision-making, budgeting, and project oversight</a:t>
            </a:r>
          </a:p>
          <a:p>
            <a:r>
              <a:rPr lang="en-US" sz="2000"/>
              <a:t>Accessible Data</a:t>
            </a:r>
          </a:p>
          <a:p>
            <a:pPr marL="0" indent="0">
              <a:buNone/>
            </a:pPr>
            <a:endParaRPr lang="en-US" sz="2000"/>
          </a:p>
          <a:p>
            <a:endParaRPr lang="en-CA" sz="2000"/>
          </a:p>
          <a:p>
            <a:endParaRPr lang="en-CA" sz="2000"/>
          </a:p>
        </p:txBody>
      </p:sp>
      <p:pic>
        <p:nvPicPr>
          <p:cNvPr id="5" name="Picture 4" descr="3D Hologram from iPad">
            <a:extLst>
              <a:ext uri="{FF2B5EF4-FFF2-40B4-BE49-F238E27FC236}">
                <a16:creationId xmlns:a16="http://schemas.microsoft.com/office/drawing/2014/main" id="{4303D828-EAB5-2CC6-EEF5-EBCB1A1E8E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647" r="28952" b="-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5782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9005B-7500-71F0-5B5F-5D5531D77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4591" y="158443"/>
            <a:ext cx="8911687" cy="1280890"/>
          </a:xfrm>
        </p:spPr>
        <p:txBody>
          <a:bodyPr>
            <a:normAutofit/>
          </a:bodyPr>
          <a:lstStyle/>
          <a:p>
            <a:r>
              <a:rPr lang="en-US" sz="4000" dirty="0"/>
              <a:t>Project Final Impact</a:t>
            </a:r>
            <a:endParaRPr lang="en-CA" sz="4000" dirty="0"/>
          </a:p>
        </p:txBody>
      </p:sp>
      <p:graphicFrame>
        <p:nvGraphicFramePr>
          <p:cNvPr id="8" name="Rectangle 1">
            <a:extLst>
              <a:ext uri="{FF2B5EF4-FFF2-40B4-BE49-F238E27FC236}">
                <a16:creationId xmlns:a16="http://schemas.microsoft.com/office/drawing/2014/main" id="{59DC5A0E-CD49-DA63-1AEE-715E23A3FA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50352760"/>
              </p:ext>
            </p:extLst>
          </p:nvPr>
        </p:nvGraphicFramePr>
        <p:xfrm>
          <a:off x="838200" y="2877909"/>
          <a:ext cx="11538672" cy="22467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205852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C89D1-EEDA-C1AD-942D-6FE80B0FB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706103-A781-04F0-C1A4-D2C0C984CA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7666" y="3429000"/>
            <a:ext cx="7736945" cy="2482222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CA" sz="6000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21070633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297</TotalTime>
  <Words>390</Words>
  <Application>Microsoft Office PowerPoint</Application>
  <PresentationFormat>Widescreen</PresentationFormat>
  <Paragraphs>70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Amasis MT Pro Black</vt:lpstr>
      <vt:lpstr>Aptos</vt:lpstr>
      <vt:lpstr>Aptos Display</vt:lpstr>
      <vt:lpstr>Arial</vt:lpstr>
      <vt:lpstr>Office Theme</vt:lpstr>
      <vt:lpstr>National Infrastructure Database-Modernized</vt:lpstr>
      <vt:lpstr>Our project Goals </vt:lpstr>
      <vt:lpstr>The Problem</vt:lpstr>
      <vt:lpstr>Why Centralization Matters</vt:lpstr>
      <vt:lpstr>Database Structure Breakdown</vt:lpstr>
      <vt:lpstr>ERD Overview</vt:lpstr>
      <vt:lpstr>SQL Demo: Key Queries</vt:lpstr>
      <vt:lpstr>Project Data – XML &amp; JSON</vt:lpstr>
      <vt:lpstr>Proof of Concept Webpage</vt:lpstr>
      <vt:lpstr>Our Proposed Solution</vt:lpstr>
      <vt:lpstr>Project Final Impact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Duru Elli</dc:creator>
  <cp:lastModifiedBy>Aishat Mohammed</cp:lastModifiedBy>
  <cp:revision>5</cp:revision>
  <dcterms:created xsi:type="dcterms:W3CDTF">2025-12-04T18:18:08Z</dcterms:created>
  <dcterms:modified xsi:type="dcterms:W3CDTF">2025-12-06T19:15:41Z</dcterms:modified>
</cp:coreProperties>
</file>